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7" r:id="rId1"/>
  </p:sldMasterIdLst>
  <p:notesMasterIdLst>
    <p:notesMasterId r:id="rId14"/>
  </p:notesMasterIdLst>
  <p:sldIdLst>
    <p:sldId id="256" r:id="rId2"/>
    <p:sldId id="257" r:id="rId3"/>
    <p:sldId id="258" r:id="rId4"/>
    <p:sldId id="259" r:id="rId5"/>
    <p:sldId id="266" r:id="rId6"/>
    <p:sldId id="267" r:id="rId7"/>
    <p:sldId id="260" r:id="rId8"/>
    <p:sldId id="269" r:id="rId9"/>
    <p:sldId id="270" r:id="rId10"/>
    <p:sldId id="268" r:id="rId11"/>
    <p:sldId id="263" r:id="rId12"/>
    <p:sldId id="26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B944398-446A-43B4-965B-DC8130226322}">
          <p14:sldIdLst>
            <p14:sldId id="256"/>
            <p14:sldId id="257"/>
            <p14:sldId id="258"/>
            <p14:sldId id="259"/>
            <p14:sldId id="266"/>
          </p14:sldIdLst>
        </p14:section>
        <p14:section name="Untitled Section" id="{256A6CE1-8A94-4D1F-A583-12E21CC964A9}">
          <p14:sldIdLst>
            <p14:sldId id="267"/>
            <p14:sldId id="260"/>
            <p14:sldId id="269"/>
            <p14:sldId id="270"/>
            <p14:sldId id="268"/>
            <p14:sldId id="263"/>
            <p14:sldId id="26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4AA3AC-69EB-41E2-A781-233B6404E88E}" v="336" dt="2025-05-02T01:55:31.2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4" d="100"/>
          <a:sy n="94" d="100"/>
        </p:scale>
        <p:origin x="396"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3EDE2D-29D0-4CC1-8DB1-3629010A50B6}"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FA8C474-4414-442A-B660-40451EEAC374}">
      <dgm:prSet/>
      <dgm:spPr/>
      <dgm:t>
        <a:bodyPr/>
        <a:lstStyle/>
        <a:p>
          <a:pPr>
            <a:defRPr cap="all"/>
          </a:pPr>
          <a:r>
            <a:rPr lang="en-US"/>
            <a:t>- Sakila schema documentation</a:t>
          </a:r>
        </a:p>
      </dgm:t>
    </dgm:pt>
    <dgm:pt modelId="{F66845A8-DEEB-45DA-B48A-4928370D9E6A}" type="parTrans" cxnId="{A412D1C9-E41D-4D5B-9B1F-17EEFA304985}">
      <dgm:prSet/>
      <dgm:spPr/>
      <dgm:t>
        <a:bodyPr/>
        <a:lstStyle/>
        <a:p>
          <a:endParaRPr lang="en-US"/>
        </a:p>
      </dgm:t>
    </dgm:pt>
    <dgm:pt modelId="{707BCA37-61C2-4941-84F3-FE33461C54B4}" type="sibTrans" cxnId="{A412D1C9-E41D-4D5B-9B1F-17EEFA304985}">
      <dgm:prSet/>
      <dgm:spPr/>
      <dgm:t>
        <a:bodyPr/>
        <a:lstStyle/>
        <a:p>
          <a:endParaRPr lang="en-US"/>
        </a:p>
      </dgm:t>
    </dgm:pt>
    <dgm:pt modelId="{4BAFA3C9-6D1E-418F-972C-966DAF082D0D}">
      <dgm:prSet/>
      <dgm:spPr/>
      <dgm:t>
        <a:bodyPr/>
        <a:lstStyle/>
        <a:p>
          <a:pPr>
            <a:defRPr cap="all"/>
          </a:pPr>
          <a:r>
            <a:rPr lang="en-US"/>
            <a:t>- Course materials and tutorials</a:t>
          </a:r>
        </a:p>
      </dgm:t>
    </dgm:pt>
    <dgm:pt modelId="{A7713199-CFF0-488D-ABCD-EC57715115E7}" type="parTrans" cxnId="{D730AA18-E7D4-4DE9-918F-04C7255CB682}">
      <dgm:prSet/>
      <dgm:spPr/>
      <dgm:t>
        <a:bodyPr/>
        <a:lstStyle/>
        <a:p>
          <a:endParaRPr lang="en-US"/>
        </a:p>
      </dgm:t>
    </dgm:pt>
    <dgm:pt modelId="{E0622609-544F-4883-878B-CD4D5487AAF5}" type="sibTrans" cxnId="{D730AA18-E7D4-4DE9-918F-04C7255CB682}">
      <dgm:prSet/>
      <dgm:spPr/>
      <dgm:t>
        <a:bodyPr/>
        <a:lstStyle/>
        <a:p>
          <a:endParaRPr lang="en-US"/>
        </a:p>
      </dgm:t>
    </dgm:pt>
    <dgm:pt modelId="{ADDC74E2-C872-4EF8-B55B-DC63E4FC7815}">
      <dgm:prSet/>
      <dgm:spPr/>
      <dgm:t>
        <a:bodyPr/>
        <a:lstStyle/>
        <a:p>
          <a:pPr>
            <a:defRPr cap="all"/>
          </a:pPr>
          <a:r>
            <a:rPr lang="en-US"/>
            <a:t>- Online SQL resources</a:t>
          </a:r>
        </a:p>
      </dgm:t>
    </dgm:pt>
    <dgm:pt modelId="{112C382C-6F97-4BA4-8A00-AAFDB55820B0}" type="parTrans" cxnId="{DF27C0C2-C1A0-47EC-A478-EEEF73742974}">
      <dgm:prSet/>
      <dgm:spPr/>
      <dgm:t>
        <a:bodyPr/>
        <a:lstStyle/>
        <a:p>
          <a:endParaRPr lang="en-US"/>
        </a:p>
      </dgm:t>
    </dgm:pt>
    <dgm:pt modelId="{030D0103-41F0-4F50-A8E4-4750875409F8}" type="sibTrans" cxnId="{DF27C0C2-C1A0-47EC-A478-EEEF73742974}">
      <dgm:prSet/>
      <dgm:spPr/>
      <dgm:t>
        <a:bodyPr/>
        <a:lstStyle/>
        <a:p>
          <a:endParaRPr lang="en-US"/>
        </a:p>
      </dgm:t>
    </dgm:pt>
    <dgm:pt modelId="{0456672C-5DD3-4168-8DDB-9C6BBB9642BD}" type="pres">
      <dgm:prSet presAssocID="{1B3EDE2D-29D0-4CC1-8DB1-3629010A50B6}" presName="root" presStyleCnt="0">
        <dgm:presLayoutVars>
          <dgm:dir/>
          <dgm:resizeHandles val="exact"/>
        </dgm:presLayoutVars>
      </dgm:prSet>
      <dgm:spPr/>
    </dgm:pt>
    <dgm:pt modelId="{7F10E7FC-A83A-4DF6-A63C-9D5BAC51E377}" type="pres">
      <dgm:prSet presAssocID="{BFA8C474-4414-442A-B660-40451EEAC374}" presName="compNode" presStyleCnt="0"/>
      <dgm:spPr/>
    </dgm:pt>
    <dgm:pt modelId="{F1435B99-9633-4181-A690-19B93C24AF29}" type="pres">
      <dgm:prSet presAssocID="{BFA8C474-4414-442A-B660-40451EEAC374}" presName="iconBgRect" presStyleLbl="bgShp" presStyleIdx="0" presStyleCnt="3"/>
      <dgm:spPr/>
    </dgm:pt>
    <dgm:pt modelId="{42A1E2EC-CF7D-4121-AB8B-B53E2D10A0AD}" type="pres">
      <dgm:prSet presAssocID="{BFA8C474-4414-442A-B660-40451EEAC37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FD947CD3-BCE4-4A81-ADA7-C495D6FC3B7B}" type="pres">
      <dgm:prSet presAssocID="{BFA8C474-4414-442A-B660-40451EEAC374}" presName="spaceRect" presStyleCnt="0"/>
      <dgm:spPr/>
    </dgm:pt>
    <dgm:pt modelId="{0062A85F-47D6-4C8A-8A7F-83AF2EA9D8D7}" type="pres">
      <dgm:prSet presAssocID="{BFA8C474-4414-442A-B660-40451EEAC374}" presName="textRect" presStyleLbl="revTx" presStyleIdx="0" presStyleCnt="3">
        <dgm:presLayoutVars>
          <dgm:chMax val="1"/>
          <dgm:chPref val="1"/>
        </dgm:presLayoutVars>
      </dgm:prSet>
      <dgm:spPr/>
    </dgm:pt>
    <dgm:pt modelId="{23A6E48C-7570-4DC2-983E-5C179816C784}" type="pres">
      <dgm:prSet presAssocID="{707BCA37-61C2-4941-84F3-FE33461C54B4}" presName="sibTrans" presStyleCnt="0"/>
      <dgm:spPr/>
    </dgm:pt>
    <dgm:pt modelId="{B8515529-FA4A-404A-A9DC-C8DCEFCF2EF2}" type="pres">
      <dgm:prSet presAssocID="{4BAFA3C9-6D1E-418F-972C-966DAF082D0D}" presName="compNode" presStyleCnt="0"/>
      <dgm:spPr/>
    </dgm:pt>
    <dgm:pt modelId="{62519B7A-9433-45CC-AF8C-AB8FA9786513}" type="pres">
      <dgm:prSet presAssocID="{4BAFA3C9-6D1E-418F-972C-966DAF082D0D}" presName="iconBgRect" presStyleLbl="bgShp" presStyleIdx="1" presStyleCnt="3"/>
      <dgm:spPr/>
    </dgm:pt>
    <dgm:pt modelId="{3875AFBB-7E7F-451D-800A-9BF8C289DE67}" type="pres">
      <dgm:prSet presAssocID="{4BAFA3C9-6D1E-418F-972C-966DAF082D0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A3799345-DFA1-4682-BBF7-B25D0B965813}" type="pres">
      <dgm:prSet presAssocID="{4BAFA3C9-6D1E-418F-972C-966DAF082D0D}" presName="spaceRect" presStyleCnt="0"/>
      <dgm:spPr/>
    </dgm:pt>
    <dgm:pt modelId="{0CD61BFA-29F3-4BE9-A859-603F4C39CA9F}" type="pres">
      <dgm:prSet presAssocID="{4BAFA3C9-6D1E-418F-972C-966DAF082D0D}" presName="textRect" presStyleLbl="revTx" presStyleIdx="1" presStyleCnt="3">
        <dgm:presLayoutVars>
          <dgm:chMax val="1"/>
          <dgm:chPref val="1"/>
        </dgm:presLayoutVars>
      </dgm:prSet>
      <dgm:spPr/>
    </dgm:pt>
    <dgm:pt modelId="{75AF5944-AFDA-4758-ADB6-6DDC5D360829}" type="pres">
      <dgm:prSet presAssocID="{E0622609-544F-4883-878B-CD4D5487AAF5}" presName="sibTrans" presStyleCnt="0"/>
      <dgm:spPr/>
    </dgm:pt>
    <dgm:pt modelId="{5AE3AE43-B997-474D-B2E4-1515DDC01C2F}" type="pres">
      <dgm:prSet presAssocID="{ADDC74E2-C872-4EF8-B55B-DC63E4FC7815}" presName="compNode" presStyleCnt="0"/>
      <dgm:spPr/>
    </dgm:pt>
    <dgm:pt modelId="{A0BB7C0A-87BA-4461-BE60-85149B37ACF9}" type="pres">
      <dgm:prSet presAssocID="{ADDC74E2-C872-4EF8-B55B-DC63E4FC7815}" presName="iconBgRect" presStyleLbl="bgShp" presStyleIdx="2" presStyleCnt="3"/>
      <dgm:spPr/>
    </dgm:pt>
    <dgm:pt modelId="{7D8F194C-7C5F-4785-93DC-98C92FBBFE47}" type="pres">
      <dgm:prSet presAssocID="{ADDC74E2-C872-4EF8-B55B-DC63E4FC781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8574AFE2-034E-4A92-A348-8A039266D790}" type="pres">
      <dgm:prSet presAssocID="{ADDC74E2-C872-4EF8-B55B-DC63E4FC7815}" presName="spaceRect" presStyleCnt="0"/>
      <dgm:spPr/>
    </dgm:pt>
    <dgm:pt modelId="{E6F2CECF-D77D-40D2-8CA0-C1FBF9D24F11}" type="pres">
      <dgm:prSet presAssocID="{ADDC74E2-C872-4EF8-B55B-DC63E4FC7815}" presName="textRect" presStyleLbl="revTx" presStyleIdx="2" presStyleCnt="3">
        <dgm:presLayoutVars>
          <dgm:chMax val="1"/>
          <dgm:chPref val="1"/>
        </dgm:presLayoutVars>
      </dgm:prSet>
      <dgm:spPr/>
    </dgm:pt>
  </dgm:ptLst>
  <dgm:cxnLst>
    <dgm:cxn modelId="{D730AA18-E7D4-4DE9-918F-04C7255CB682}" srcId="{1B3EDE2D-29D0-4CC1-8DB1-3629010A50B6}" destId="{4BAFA3C9-6D1E-418F-972C-966DAF082D0D}" srcOrd="1" destOrd="0" parTransId="{A7713199-CFF0-488D-ABCD-EC57715115E7}" sibTransId="{E0622609-544F-4883-878B-CD4D5487AAF5}"/>
    <dgm:cxn modelId="{A7E46037-2A35-48C5-8831-92A2A6492048}" type="presOf" srcId="{4BAFA3C9-6D1E-418F-972C-966DAF082D0D}" destId="{0CD61BFA-29F3-4BE9-A859-603F4C39CA9F}" srcOrd="0" destOrd="0" presId="urn:microsoft.com/office/officeart/2018/5/layout/IconCircleLabelList"/>
    <dgm:cxn modelId="{A3A8E273-DF66-4F15-82F7-BA06A81BF051}" type="presOf" srcId="{1B3EDE2D-29D0-4CC1-8DB1-3629010A50B6}" destId="{0456672C-5DD3-4168-8DDB-9C6BBB9642BD}" srcOrd="0" destOrd="0" presId="urn:microsoft.com/office/officeart/2018/5/layout/IconCircleLabelList"/>
    <dgm:cxn modelId="{A1A94057-53F5-4F07-A285-2066E2AD2A22}" type="presOf" srcId="{BFA8C474-4414-442A-B660-40451EEAC374}" destId="{0062A85F-47D6-4C8A-8A7F-83AF2EA9D8D7}" srcOrd="0" destOrd="0" presId="urn:microsoft.com/office/officeart/2018/5/layout/IconCircleLabelList"/>
    <dgm:cxn modelId="{C49957A0-9E2A-4D2C-812C-B9AE2CED527F}" type="presOf" srcId="{ADDC74E2-C872-4EF8-B55B-DC63E4FC7815}" destId="{E6F2CECF-D77D-40D2-8CA0-C1FBF9D24F11}" srcOrd="0" destOrd="0" presId="urn:microsoft.com/office/officeart/2018/5/layout/IconCircleLabelList"/>
    <dgm:cxn modelId="{DF27C0C2-C1A0-47EC-A478-EEEF73742974}" srcId="{1B3EDE2D-29D0-4CC1-8DB1-3629010A50B6}" destId="{ADDC74E2-C872-4EF8-B55B-DC63E4FC7815}" srcOrd="2" destOrd="0" parTransId="{112C382C-6F97-4BA4-8A00-AAFDB55820B0}" sibTransId="{030D0103-41F0-4F50-A8E4-4750875409F8}"/>
    <dgm:cxn modelId="{A412D1C9-E41D-4D5B-9B1F-17EEFA304985}" srcId="{1B3EDE2D-29D0-4CC1-8DB1-3629010A50B6}" destId="{BFA8C474-4414-442A-B660-40451EEAC374}" srcOrd="0" destOrd="0" parTransId="{F66845A8-DEEB-45DA-B48A-4928370D9E6A}" sibTransId="{707BCA37-61C2-4941-84F3-FE33461C54B4}"/>
    <dgm:cxn modelId="{DC5716FC-89EC-4224-B78C-BD896C8E60CE}" type="presParOf" srcId="{0456672C-5DD3-4168-8DDB-9C6BBB9642BD}" destId="{7F10E7FC-A83A-4DF6-A63C-9D5BAC51E377}" srcOrd="0" destOrd="0" presId="urn:microsoft.com/office/officeart/2018/5/layout/IconCircleLabelList"/>
    <dgm:cxn modelId="{035EEEA0-BCD6-4B6C-B0B3-EDA2C7E70EEC}" type="presParOf" srcId="{7F10E7FC-A83A-4DF6-A63C-9D5BAC51E377}" destId="{F1435B99-9633-4181-A690-19B93C24AF29}" srcOrd="0" destOrd="0" presId="urn:microsoft.com/office/officeart/2018/5/layout/IconCircleLabelList"/>
    <dgm:cxn modelId="{3E27B529-F50C-4872-94F3-2B3876D7AC5B}" type="presParOf" srcId="{7F10E7FC-A83A-4DF6-A63C-9D5BAC51E377}" destId="{42A1E2EC-CF7D-4121-AB8B-B53E2D10A0AD}" srcOrd="1" destOrd="0" presId="urn:microsoft.com/office/officeart/2018/5/layout/IconCircleLabelList"/>
    <dgm:cxn modelId="{34E53095-9E4F-47AC-933C-988F1DA10673}" type="presParOf" srcId="{7F10E7FC-A83A-4DF6-A63C-9D5BAC51E377}" destId="{FD947CD3-BCE4-4A81-ADA7-C495D6FC3B7B}" srcOrd="2" destOrd="0" presId="urn:microsoft.com/office/officeart/2018/5/layout/IconCircleLabelList"/>
    <dgm:cxn modelId="{B8E80CC4-A92D-48B7-A7C9-F13A0FF7107F}" type="presParOf" srcId="{7F10E7FC-A83A-4DF6-A63C-9D5BAC51E377}" destId="{0062A85F-47D6-4C8A-8A7F-83AF2EA9D8D7}" srcOrd="3" destOrd="0" presId="urn:microsoft.com/office/officeart/2018/5/layout/IconCircleLabelList"/>
    <dgm:cxn modelId="{F462FEF7-9E93-4CA1-8DB9-21A322687685}" type="presParOf" srcId="{0456672C-5DD3-4168-8DDB-9C6BBB9642BD}" destId="{23A6E48C-7570-4DC2-983E-5C179816C784}" srcOrd="1" destOrd="0" presId="urn:microsoft.com/office/officeart/2018/5/layout/IconCircleLabelList"/>
    <dgm:cxn modelId="{48CED541-C733-4D36-9503-B37A03FDECCF}" type="presParOf" srcId="{0456672C-5DD3-4168-8DDB-9C6BBB9642BD}" destId="{B8515529-FA4A-404A-A9DC-C8DCEFCF2EF2}" srcOrd="2" destOrd="0" presId="urn:microsoft.com/office/officeart/2018/5/layout/IconCircleLabelList"/>
    <dgm:cxn modelId="{DB12EDEB-5CD3-4136-876C-5A5242C7274D}" type="presParOf" srcId="{B8515529-FA4A-404A-A9DC-C8DCEFCF2EF2}" destId="{62519B7A-9433-45CC-AF8C-AB8FA9786513}" srcOrd="0" destOrd="0" presId="urn:microsoft.com/office/officeart/2018/5/layout/IconCircleLabelList"/>
    <dgm:cxn modelId="{FB647C14-E0CD-4CC5-9CD6-0EF5B3E876E4}" type="presParOf" srcId="{B8515529-FA4A-404A-A9DC-C8DCEFCF2EF2}" destId="{3875AFBB-7E7F-451D-800A-9BF8C289DE67}" srcOrd="1" destOrd="0" presId="urn:microsoft.com/office/officeart/2018/5/layout/IconCircleLabelList"/>
    <dgm:cxn modelId="{86CE4C07-C10C-4DA2-A1ED-D57C0C1643B6}" type="presParOf" srcId="{B8515529-FA4A-404A-A9DC-C8DCEFCF2EF2}" destId="{A3799345-DFA1-4682-BBF7-B25D0B965813}" srcOrd="2" destOrd="0" presId="urn:microsoft.com/office/officeart/2018/5/layout/IconCircleLabelList"/>
    <dgm:cxn modelId="{80910468-D544-489B-8736-660353272D3E}" type="presParOf" srcId="{B8515529-FA4A-404A-A9DC-C8DCEFCF2EF2}" destId="{0CD61BFA-29F3-4BE9-A859-603F4C39CA9F}" srcOrd="3" destOrd="0" presId="urn:microsoft.com/office/officeart/2018/5/layout/IconCircleLabelList"/>
    <dgm:cxn modelId="{1963F447-E038-4D2F-9B53-C6C80895CB2B}" type="presParOf" srcId="{0456672C-5DD3-4168-8DDB-9C6BBB9642BD}" destId="{75AF5944-AFDA-4758-ADB6-6DDC5D360829}" srcOrd="3" destOrd="0" presId="urn:microsoft.com/office/officeart/2018/5/layout/IconCircleLabelList"/>
    <dgm:cxn modelId="{B1CA41A1-8E0D-4A81-A964-7B4D9B39A541}" type="presParOf" srcId="{0456672C-5DD3-4168-8DDB-9C6BBB9642BD}" destId="{5AE3AE43-B997-474D-B2E4-1515DDC01C2F}" srcOrd="4" destOrd="0" presId="urn:microsoft.com/office/officeart/2018/5/layout/IconCircleLabelList"/>
    <dgm:cxn modelId="{74BCB67D-4EA5-4694-9369-7106BEF12E4E}" type="presParOf" srcId="{5AE3AE43-B997-474D-B2E4-1515DDC01C2F}" destId="{A0BB7C0A-87BA-4461-BE60-85149B37ACF9}" srcOrd="0" destOrd="0" presId="urn:microsoft.com/office/officeart/2018/5/layout/IconCircleLabelList"/>
    <dgm:cxn modelId="{11797F64-BF11-4663-BC11-81FB8D6FB690}" type="presParOf" srcId="{5AE3AE43-B997-474D-B2E4-1515DDC01C2F}" destId="{7D8F194C-7C5F-4785-93DC-98C92FBBFE47}" srcOrd="1" destOrd="0" presId="urn:microsoft.com/office/officeart/2018/5/layout/IconCircleLabelList"/>
    <dgm:cxn modelId="{CC113490-1CE8-4F64-A1F4-A0BCFF1B3871}" type="presParOf" srcId="{5AE3AE43-B997-474D-B2E4-1515DDC01C2F}" destId="{8574AFE2-034E-4A92-A348-8A039266D790}" srcOrd="2" destOrd="0" presId="urn:microsoft.com/office/officeart/2018/5/layout/IconCircleLabelList"/>
    <dgm:cxn modelId="{22A24849-A83A-4E71-829D-3EA5DF36A4A6}" type="presParOf" srcId="{5AE3AE43-B997-474D-B2E4-1515DDC01C2F}" destId="{E6F2CECF-D77D-40D2-8CA0-C1FBF9D24F1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435B99-9633-4181-A690-19B93C24AF29}">
      <dsp:nvSpPr>
        <dsp:cNvPr id="0" name=""/>
        <dsp:cNvSpPr/>
      </dsp:nvSpPr>
      <dsp:spPr>
        <a:xfrm>
          <a:off x="518185" y="768902"/>
          <a:ext cx="1475437" cy="14754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A1E2EC-CF7D-4121-AB8B-B53E2D10A0AD}">
      <dsp:nvSpPr>
        <dsp:cNvPr id="0" name=""/>
        <dsp:cNvSpPr/>
      </dsp:nvSpPr>
      <dsp:spPr>
        <a:xfrm>
          <a:off x="832623" y="1083340"/>
          <a:ext cx="846562" cy="84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62A85F-47D6-4C8A-8A7F-83AF2EA9D8D7}">
      <dsp:nvSpPr>
        <dsp:cNvPr id="0" name=""/>
        <dsp:cNvSpPr/>
      </dsp:nvSpPr>
      <dsp:spPr>
        <a:xfrm>
          <a:off x="46529"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 Sakila schema documentation</a:t>
          </a:r>
        </a:p>
      </dsp:txBody>
      <dsp:txXfrm>
        <a:off x="46529" y="2703902"/>
        <a:ext cx="2418750" cy="720000"/>
      </dsp:txXfrm>
    </dsp:sp>
    <dsp:sp modelId="{62519B7A-9433-45CC-AF8C-AB8FA9786513}">
      <dsp:nvSpPr>
        <dsp:cNvPr id="0" name=""/>
        <dsp:cNvSpPr/>
      </dsp:nvSpPr>
      <dsp:spPr>
        <a:xfrm>
          <a:off x="3360216" y="768902"/>
          <a:ext cx="1475437" cy="14754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75AFBB-7E7F-451D-800A-9BF8C289DE67}">
      <dsp:nvSpPr>
        <dsp:cNvPr id="0" name=""/>
        <dsp:cNvSpPr/>
      </dsp:nvSpPr>
      <dsp:spPr>
        <a:xfrm>
          <a:off x="3674654" y="1083340"/>
          <a:ext cx="846562" cy="84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D61BFA-29F3-4BE9-A859-603F4C39CA9F}">
      <dsp:nvSpPr>
        <dsp:cNvPr id="0" name=""/>
        <dsp:cNvSpPr/>
      </dsp:nvSpPr>
      <dsp:spPr>
        <a:xfrm>
          <a:off x="2888560"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 Course materials and tutorials</a:t>
          </a:r>
        </a:p>
      </dsp:txBody>
      <dsp:txXfrm>
        <a:off x="2888560" y="2703902"/>
        <a:ext cx="2418750" cy="720000"/>
      </dsp:txXfrm>
    </dsp:sp>
    <dsp:sp modelId="{A0BB7C0A-87BA-4461-BE60-85149B37ACF9}">
      <dsp:nvSpPr>
        <dsp:cNvPr id="0" name=""/>
        <dsp:cNvSpPr/>
      </dsp:nvSpPr>
      <dsp:spPr>
        <a:xfrm>
          <a:off x="6202248" y="768902"/>
          <a:ext cx="1475437" cy="14754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8F194C-7C5F-4785-93DC-98C92FBBFE47}">
      <dsp:nvSpPr>
        <dsp:cNvPr id="0" name=""/>
        <dsp:cNvSpPr/>
      </dsp:nvSpPr>
      <dsp:spPr>
        <a:xfrm>
          <a:off x="6516685" y="1083340"/>
          <a:ext cx="846562" cy="846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F2CECF-D77D-40D2-8CA0-C1FBF9D24F11}">
      <dsp:nvSpPr>
        <dsp:cNvPr id="0" name=""/>
        <dsp:cNvSpPr/>
      </dsp:nvSpPr>
      <dsp:spPr>
        <a:xfrm>
          <a:off x="5730591"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 Online SQL resources</a:t>
          </a:r>
        </a:p>
      </dsp:txBody>
      <dsp:txXfrm>
        <a:off x="5730591" y="2703902"/>
        <a:ext cx="24187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D52EF8-9BFD-433A-A6FA-F2094D518DA6}" type="datetimeFigureOut">
              <a:rPr lang="en-US" smtClean="0"/>
              <a:t>5/2/2025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D08A50-15B2-4E02-B550-E1146D9A0D24}" type="slidenum">
              <a:rPr lang="en-US" smtClean="0"/>
              <a:t>‹#›</a:t>
            </a:fld>
            <a:endParaRPr lang="en-US"/>
          </a:p>
        </p:txBody>
      </p:sp>
    </p:spTree>
    <p:extLst>
      <p:ext uri="{BB962C8B-B14F-4D97-AF65-F5344CB8AC3E}">
        <p14:creationId xmlns:p14="http://schemas.microsoft.com/office/powerpoint/2010/main" val="82173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D08A50-15B2-4E02-B550-E1146D9A0D24}" type="slidenum">
              <a:rPr lang="en-US" smtClean="0"/>
              <a:t>6</a:t>
            </a:fld>
            <a:endParaRPr lang="en-US"/>
          </a:p>
        </p:txBody>
      </p:sp>
    </p:spTree>
    <p:extLst>
      <p:ext uri="{BB962C8B-B14F-4D97-AF65-F5344CB8AC3E}">
        <p14:creationId xmlns:p14="http://schemas.microsoft.com/office/powerpoint/2010/main" val="973958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0F9E6-ABDD-4C58-F51B-C67D465434A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13B4C40-1AA4-D05A-7DFC-C24FA8B0695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8389B78-0145-9E8A-83F3-78B2BADEFAB9}"/>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a:extLst>
              <a:ext uri="{FF2B5EF4-FFF2-40B4-BE49-F238E27FC236}">
                <a16:creationId xmlns:a16="http://schemas.microsoft.com/office/drawing/2014/main" id="{B44313BE-46CE-AE88-8128-7A4469BC5F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9231D-1249-90D8-3B5C-C7A73048A34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3042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C093-B806-5FBB-41A6-4B1BA41AD8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7874BC-00EC-8971-0885-D5179579F0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516A11-3A5E-0E4B-F17F-77E6A222EBBA}"/>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a:extLst>
              <a:ext uri="{FF2B5EF4-FFF2-40B4-BE49-F238E27FC236}">
                <a16:creationId xmlns:a16="http://schemas.microsoft.com/office/drawing/2014/main" id="{30987E5B-B728-38CC-0E19-1047791B57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CCD6C9-A0C0-E520-45EA-A61401629E4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969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F45E3-B2D1-6292-E56C-FE5FA5FB080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1471C2B-26AE-8CF7-A3E9-A9E1BA6E8CFB}"/>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3907C3-EB99-6C4B-4B66-DAD1910CE8F1}"/>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a:extLst>
              <a:ext uri="{FF2B5EF4-FFF2-40B4-BE49-F238E27FC236}">
                <a16:creationId xmlns:a16="http://schemas.microsoft.com/office/drawing/2014/main" id="{DE04CF71-BC35-836A-8ADA-FEC118451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09B3D-6E58-4199-90C6-559EBFCE67A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97839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3B73B-66E1-7120-B4E0-EBFD3AC29A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3C5DD7-88A0-7828-6272-8178D5500D6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747E34-1927-54D8-8927-ECFF30DDB03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655229-D32B-84A6-DB3D-E1A536B7D43B}"/>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a:extLst>
              <a:ext uri="{FF2B5EF4-FFF2-40B4-BE49-F238E27FC236}">
                <a16:creationId xmlns:a16="http://schemas.microsoft.com/office/drawing/2014/main" id="{F044C6A3-B290-62FF-ADDF-78AA475D55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CDFE8D-61D9-2BB1-4BA4-D5F97865726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9132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3D8BB-B31F-246A-9DC0-740413F3DFA2}"/>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588D9E-526C-24E0-7727-9AE4DC87D5D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EC91A-D633-B9CA-9414-51D287B385D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2AA3E2-B135-4AFE-422F-3E3D605F127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E737F02-3CE9-49EF-5F35-F719E3C86CB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4C673A-F94D-6558-0BA3-4B626B179C09}"/>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8" name="Footer Placeholder 7">
            <a:extLst>
              <a:ext uri="{FF2B5EF4-FFF2-40B4-BE49-F238E27FC236}">
                <a16:creationId xmlns:a16="http://schemas.microsoft.com/office/drawing/2014/main" id="{4B4DA619-321A-7BF2-3CCE-ACD80ADB79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83A1FC-02DC-10A5-0960-899F5E3DA9B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0284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95645-0196-11B6-616D-22834A58C2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937E0A-C811-7EB5-EDA3-7ED15E57AB54}"/>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4" name="Footer Placeholder 3">
            <a:extLst>
              <a:ext uri="{FF2B5EF4-FFF2-40B4-BE49-F238E27FC236}">
                <a16:creationId xmlns:a16="http://schemas.microsoft.com/office/drawing/2014/main" id="{1B9BF9D4-B572-EE62-0C9A-4BDBE382F2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84C1E9-FF0B-251C-3461-F68799FF034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9463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981976-3ED1-52A6-88C7-172B9EB83B65}"/>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3" name="Footer Placeholder 2">
            <a:extLst>
              <a:ext uri="{FF2B5EF4-FFF2-40B4-BE49-F238E27FC236}">
                <a16:creationId xmlns:a16="http://schemas.microsoft.com/office/drawing/2014/main" id="{9A1D1FD2-6EC5-3953-AF55-8319CE94F0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7517F8-79C6-F68C-DB6B-22ED7F4C478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0262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2CF79-9DB7-53DC-2328-F0911C11DB2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6585D12-D8E7-87A8-2C2A-FF6EA3498CA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5D4E45-62E0-C737-AD7C-5471486BE7A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FEF9A35-1087-0EFC-9A3F-2E51209E10F8}"/>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a:extLst>
              <a:ext uri="{FF2B5EF4-FFF2-40B4-BE49-F238E27FC236}">
                <a16:creationId xmlns:a16="http://schemas.microsoft.com/office/drawing/2014/main" id="{B7943DC7-3258-26C2-6100-FCDAA80E63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2CB0D7-72C2-90DE-0293-AFF3B7C21C7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6018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6E08B-EA37-B21F-89CB-220F9BC6166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DBC862B-1147-19F6-A10B-ECFCD0C0C90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0BD5061-88E9-F2AB-7752-1543A1A400A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D40665E-EB81-6FAB-380B-D798E95C5305}"/>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a:extLst>
              <a:ext uri="{FF2B5EF4-FFF2-40B4-BE49-F238E27FC236}">
                <a16:creationId xmlns:a16="http://schemas.microsoft.com/office/drawing/2014/main" id="{D6690F99-2355-8E92-DC0D-E118666CB9B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AC73A25-BDB7-4CE9-1BE1-FC17C079C96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5356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F4560-DD01-B256-9D4F-F13802C89B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A02EAF-C998-D01D-1F07-663931D98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D1374-2F06-90AD-E099-E5D3C2B29953}"/>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a:extLst>
              <a:ext uri="{FF2B5EF4-FFF2-40B4-BE49-F238E27FC236}">
                <a16:creationId xmlns:a16="http://schemas.microsoft.com/office/drawing/2014/main" id="{1F0997E5-03E2-0592-5862-AB7541B862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833C5A-85D5-65AD-DFBA-1DEF6D95002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9495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A75CB9-9866-67D0-DB13-1E53A31EE21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5B228E-43EC-6F0A-DA94-58F233BB4DD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069C21-F17B-082B-6718-DCAAA8D129FA}"/>
              </a:ext>
            </a:extLst>
          </p:cNvPr>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a:extLst>
              <a:ext uri="{FF2B5EF4-FFF2-40B4-BE49-F238E27FC236}">
                <a16:creationId xmlns:a16="http://schemas.microsoft.com/office/drawing/2014/main" id="{3D1528CA-CEE4-8818-6246-400CB4B238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2591A-F0A4-9C54-2675-989A2EB7B0D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669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E0B21-B09A-1EFE-7ABF-C9DFD0B6278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4E7E8E-744D-C2F6-362F-6C6E208C449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A2A5DB-466F-9FDB-1A9F-9751021E9B0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BCAD085-E8A6-8845-BD4E-CB4CCA059FC4}" type="datetimeFigureOut">
              <a:rPr lang="en-US" smtClean="0"/>
              <a:t>5/2/2025</a:t>
            </a:fld>
            <a:endParaRPr lang="en-US"/>
          </a:p>
        </p:txBody>
      </p:sp>
      <p:sp>
        <p:nvSpPr>
          <p:cNvPr id="5" name="Footer Placeholder 4">
            <a:extLst>
              <a:ext uri="{FF2B5EF4-FFF2-40B4-BE49-F238E27FC236}">
                <a16:creationId xmlns:a16="http://schemas.microsoft.com/office/drawing/2014/main" id="{4FC01424-B2CD-8F7D-0336-3BA5F746582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5B3465D-3F9F-9C45-D6B3-6722F429C29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65185708"/>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4" name="Rectangle 213">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ight Triangle 215">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Rectangle 217">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23900" y="1036674"/>
            <a:ext cx="2766822" cy="3514364"/>
          </a:xfrm>
        </p:spPr>
        <p:txBody>
          <a:bodyPr anchor="b">
            <a:normAutofit/>
          </a:bodyPr>
          <a:lstStyle/>
          <a:p>
            <a:pPr algn="r"/>
            <a:r>
              <a:rPr lang="en-US" sz="4400" dirty="0"/>
              <a:t>Alternative Project Part 5 - Database Project</a:t>
            </a:r>
          </a:p>
        </p:txBody>
      </p:sp>
      <p:sp>
        <p:nvSpPr>
          <p:cNvPr id="3" name="Subtitle 2"/>
          <p:cNvSpPr>
            <a:spLocks noGrp="1"/>
          </p:cNvSpPr>
          <p:nvPr>
            <p:ph type="subTitle" idx="1"/>
          </p:nvPr>
        </p:nvSpPr>
        <p:spPr>
          <a:xfrm>
            <a:off x="723901" y="4582814"/>
            <a:ext cx="2766821" cy="1312657"/>
          </a:xfrm>
        </p:spPr>
        <p:txBody>
          <a:bodyPr anchor="t">
            <a:normAutofit/>
          </a:bodyPr>
          <a:lstStyle/>
          <a:p>
            <a:pPr algn="r"/>
            <a:r>
              <a:rPr lang="en-US" sz="1700"/>
              <a:t>Cecilia Smith</a:t>
            </a:r>
          </a:p>
          <a:p>
            <a:pPr algn="r"/>
            <a:r>
              <a:rPr lang="en-US" sz="1700"/>
              <a:t>ITD 256</a:t>
            </a:r>
          </a:p>
          <a:p>
            <a:pPr algn="r"/>
            <a:r>
              <a:rPr lang="en-US" sz="1700"/>
              <a:t>May 4, 2025</a:t>
            </a:r>
          </a:p>
        </p:txBody>
      </p:sp>
      <p:pic>
        <p:nvPicPr>
          <p:cNvPr id="165" name="Graphic 164" descr="Database">
            <a:extLst>
              <a:ext uri="{FF2B5EF4-FFF2-40B4-BE49-F238E27FC236}">
                <a16:creationId xmlns:a16="http://schemas.microsoft.com/office/drawing/2014/main" id="{25204613-22F9-6421-921D-5DA8B205E2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90830" y="1424763"/>
            <a:ext cx="3441535" cy="34415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756B343-807D-456E-AA26-80E96B75D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429260" y="525982"/>
            <a:ext cx="3212237" cy="1200361"/>
          </a:xfrm>
        </p:spPr>
        <p:txBody>
          <a:bodyPr anchor="b">
            <a:normAutofit/>
          </a:bodyPr>
          <a:lstStyle/>
          <a:p>
            <a:r>
              <a:rPr lang="en-US" sz="3100" dirty="0"/>
              <a:t>Introduction</a:t>
            </a:r>
          </a:p>
        </p:txBody>
      </p:sp>
      <p:sp>
        <p:nvSpPr>
          <p:cNvPr id="49" name="Rectangle 4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67227" y="1694387"/>
            <a:ext cx="740664" cy="88751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675" y="354959"/>
            <a:ext cx="4638730"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upcakes">
            <a:extLst>
              <a:ext uri="{FF2B5EF4-FFF2-40B4-BE49-F238E27FC236}">
                <a16:creationId xmlns:a16="http://schemas.microsoft.com/office/drawing/2014/main" id="{8EFCFC32-E00C-492B-B689-866F34062D73}"/>
              </a:ext>
            </a:extLst>
          </p:cNvPr>
          <p:cNvPicPr>
            <a:picLocks noChangeAspect="1"/>
          </p:cNvPicPr>
          <p:nvPr/>
        </p:nvPicPr>
        <p:blipFill>
          <a:blip r:embed="rId2"/>
          <a:srcRect l="35341" r="11740" b="2"/>
          <a:stretch/>
        </p:blipFill>
        <p:spPr>
          <a:xfrm>
            <a:off x="432183" y="650494"/>
            <a:ext cx="4221013" cy="5324142"/>
          </a:xfrm>
          <a:prstGeom prst="rect">
            <a:avLst/>
          </a:prstGeom>
        </p:spPr>
      </p:pic>
      <p:sp>
        <p:nvSpPr>
          <p:cNvPr id="51" name="Rectangle 5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458339" y="1944913"/>
            <a:ext cx="30175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429259" y="2031101"/>
            <a:ext cx="3212238" cy="3511943"/>
          </a:xfrm>
        </p:spPr>
        <p:txBody>
          <a:bodyPr anchor="ctr">
            <a:normAutofit/>
          </a:bodyPr>
          <a:lstStyle/>
          <a:p>
            <a:r>
              <a:rPr lang="en-US" sz="1600"/>
              <a:t>This project focuses on designing and managing a relational database for a cupcake shop using SQL and best practices in database design.</a:t>
            </a:r>
          </a:p>
        </p:txBody>
      </p:sp>
      <p:sp>
        <p:nvSpPr>
          <p:cNvPr id="52" name="Rectangle 5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65301" y="6072626"/>
            <a:ext cx="740664" cy="1155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1380" y="1138265"/>
            <a:ext cx="3408571" cy="1401183"/>
          </a:xfrm>
        </p:spPr>
        <p:txBody>
          <a:bodyPr anchor="t">
            <a:normAutofit/>
          </a:bodyPr>
          <a:lstStyle/>
          <a:p>
            <a:r>
              <a:rPr lang="en-US" sz="2800" dirty="0"/>
              <a:t>ERD Overview</a:t>
            </a:r>
          </a:p>
        </p:txBody>
      </p:sp>
      <p:cxnSp>
        <p:nvCxnSpPr>
          <p:cNvPr id="18" name="Straight Connector 17">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6096"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71380" y="2551176"/>
            <a:ext cx="3408571" cy="3602935"/>
          </a:xfrm>
        </p:spPr>
        <p:txBody>
          <a:bodyPr>
            <a:normAutofit/>
          </a:bodyPr>
          <a:lstStyle/>
          <a:p>
            <a:r>
              <a:rPr lang="en-US" sz="1700" dirty="0"/>
              <a:t>The Entity-Relationship Diagram (ERD) represents the database structure for the cupcake shop, highlighting relationships between key tables: customer, </a:t>
            </a:r>
            <a:r>
              <a:rPr lang="en-US" sz="1700"/>
              <a:t>customer_note</a:t>
            </a:r>
            <a:r>
              <a:rPr lang="en-US" sz="1700" dirty="0"/>
              <a:t>, product, sale, payment, and </a:t>
            </a:r>
            <a:r>
              <a:rPr lang="en-US" sz="1700"/>
              <a:t>sale_item</a:t>
            </a:r>
            <a:r>
              <a:rPr lang="en-US" sz="1700" dirty="0"/>
              <a:t>. The design reflects the project schema as implemented.</a:t>
            </a:r>
          </a:p>
        </p:txBody>
      </p:sp>
      <p:pic>
        <p:nvPicPr>
          <p:cNvPr id="7" name="Picture 6" descr="A diagram of a sales report&#10;&#10;AI-generated content may be incorrect.">
            <a:extLst>
              <a:ext uri="{FF2B5EF4-FFF2-40B4-BE49-F238E27FC236}">
                <a16:creationId xmlns:a16="http://schemas.microsoft.com/office/drawing/2014/main" id="{F80F18E5-A0D8-4CCF-8345-818F39B20F6E}"/>
              </a:ext>
            </a:extLst>
          </p:cNvPr>
          <p:cNvPicPr>
            <a:picLocks noChangeAspect="1"/>
          </p:cNvPicPr>
          <p:nvPr/>
        </p:nvPicPr>
        <p:blipFill>
          <a:blip r:embed="rId2"/>
          <a:stretch>
            <a:fillRect/>
          </a:stretch>
        </p:blipFill>
        <p:spPr>
          <a:xfrm>
            <a:off x="4562061" y="1894563"/>
            <a:ext cx="4000620" cy="30704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0075" y="4167167"/>
            <a:ext cx="3171825" cy="2255461"/>
          </a:xfrm>
        </p:spPr>
        <p:txBody>
          <a:bodyPr anchor="t">
            <a:normAutofit/>
          </a:bodyPr>
          <a:lstStyle/>
          <a:p>
            <a:r>
              <a:rPr lang="en-US" sz="2800"/>
              <a:t>Access Database: Schema and Interface Enhancements</a:t>
            </a:r>
            <a:endParaRPr lang="en-US" sz="2800" dirty="0"/>
          </a:p>
        </p:txBody>
      </p:sp>
      <p:pic>
        <p:nvPicPr>
          <p:cNvPr id="7" name="Picture 6">
            <a:extLst>
              <a:ext uri="{FF2B5EF4-FFF2-40B4-BE49-F238E27FC236}">
                <a16:creationId xmlns:a16="http://schemas.microsoft.com/office/drawing/2014/main" id="{3F09918D-0288-0B91-E8BD-A216B166FFD5}"/>
              </a:ext>
            </a:extLst>
          </p:cNvPr>
          <p:cNvPicPr>
            <a:picLocks noChangeAspect="1"/>
          </p:cNvPicPr>
          <p:nvPr/>
        </p:nvPicPr>
        <p:blipFill>
          <a:blip r:embed="rId2"/>
          <a:stretch>
            <a:fillRect/>
          </a:stretch>
        </p:blipFill>
        <p:spPr>
          <a:xfrm>
            <a:off x="649816" y="1136760"/>
            <a:ext cx="7844367" cy="1863036"/>
          </a:xfrm>
          <a:prstGeom prst="rect">
            <a:avLst/>
          </a:prstGeom>
        </p:spPr>
      </p:pic>
      <p:cxnSp>
        <p:nvCxnSpPr>
          <p:cNvPr id="18" name="Straight Connector 17">
            <a:extLst>
              <a:ext uri="{FF2B5EF4-FFF2-40B4-BE49-F238E27FC236}">
                <a16:creationId xmlns:a16="http://schemas.microsoft.com/office/drawing/2014/main" id="{B7952C56-EE0E-C94A-9A44-E17DD73E84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4725" y="3943277"/>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490883" y="3854885"/>
            <a:ext cx="4024466" cy="2384552"/>
          </a:xfrm>
        </p:spPr>
        <p:txBody>
          <a:bodyPr>
            <a:normAutofit/>
          </a:bodyPr>
          <a:lstStyle/>
          <a:p>
            <a:r>
              <a:rPr lang="en-US" sz="1700"/>
              <a:t>The Access database updates include modifications to the schema, such as adding a quantity field to the sale items and a unit capacity per day field to the product table. A new table for event catering was also created, featuring fields for customer and sale IDs, event details, and delivery instructions. </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35DB090-93B5-4581-8D71-BB3839684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39714" y="0"/>
            <a:ext cx="5604286"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5" name="TextBox 4">
            <a:extLst>
              <a:ext uri="{FF2B5EF4-FFF2-40B4-BE49-F238E27FC236}">
                <a16:creationId xmlns:a16="http://schemas.microsoft.com/office/drawing/2014/main" id="{02F3F083-3304-3AED-8FB7-DEB643094C4D}"/>
              </a:ext>
            </a:extLst>
          </p:cNvPr>
          <p:cNvSpPr txBox="1"/>
          <p:nvPr/>
        </p:nvSpPr>
        <p:spPr>
          <a:xfrm>
            <a:off x="628650" y="2623381"/>
            <a:ext cx="2916396" cy="3553581"/>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700" dirty="0"/>
              <a:t>On the user interface side, a new customer form was designed with a combo box for easier selection, along with a sale form that includes a </a:t>
            </a:r>
            <a:r>
              <a:rPr lang="en-US" sz="1700"/>
              <a:t>subform</a:t>
            </a:r>
            <a:r>
              <a:rPr lang="en-US" sz="1700" dirty="0"/>
              <a:t> displaying related sale items. These updates aim to improve functionality and data management within the system.</a:t>
            </a:r>
            <a:endParaRPr lang="en-US" sz="1700"/>
          </a:p>
        </p:txBody>
      </p:sp>
      <p:pic>
        <p:nvPicPr>
          <p:cNvPr id="9" name="Picture 8">
            <a:extLst>
              <a:ext uri="{FF2B5EF4-FFF2-40B4-BE49-F238E27FC236}">
                <a16:creationId xmlns:a16="http://schemas.microsoft.com/office/drawing/2014/main" id="{83E2832C-29C2-4263-1FEE-554A41050F9F}"/>
              </a:ext>
            </a:extLst>
          </p:cNvPr>
          <p:cNvPicPr>
            <a:picLocks noChangeAspect="1"/>
          </p:cNvPicPr>
          <p:nvPr/>
        </p:nvPicPr>
        <p:blipFill>
          <a:blip r:embed="rId2"/>
          <a:stretch>
            <a:fillRect/>
          </a:stretch>
        </p:blipFill>
        <p:spPr>
          <a:xfrm>
            <a:off x="4572000" y="338203"/>
            <a:ext cx="4089399" cy="2956141"/>
          </a:xfrm>
          <a:prstGeom prst="rect">
            <a:avLst/>
          </a:prstGeom>
        </p:spPr>
      </p:pic>
      <p:pic>
        <p:nvPicPr>
          <p:cNvPr id="7" name="Picture 6">
            <a:extLst>
              <a:ext uri="{FF2B5EF4-FFF2-40B4-BE49-F238E27FC236}">
                <a16:creationId xmlns:a16="http://schemas.microsoft.com/office/drawing/2014/main" id="{A961CF36-6568-46C3-9BE3-4C67891909ED}"/>
              </a:ext>
            </a:extLst>
          </p:cNvPr>
          <p:cNvPicPr>
            <a:picLocks noChangeAspect="1"/>
          </p:cNvPicPr>
          <p:nvPr/>
        </p:nvPicPr>
        <p:blipFill>
          <a:blip r:embed="rId3"/>
          <a:stretch>
            <a:fillRect/>
          </a:stretch>
        </p:blipFill>
        <p:spPr>
          <a:xfrm>
            <a:off x="4572000" y="3563657"/>
            <a:ext cx="4089399" cy="2956140"/>
          </a:xfrm>
          <a:prstGeom prst="rect">
            <a:avLst/>
          </a:prstGeom>
        </p:spPr>
      </p:pic>
    </p:spTree>
    <p:extLst>
      <p:ext uri="{BB962C8B-B14F-4D97-AF65-F5344CB8AC3E}">
        <p14:creationId xmlns:p14="http://schemas.microsoft.com/office/powerpoint/2010/main" val="2681930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118674E4-0ECB-2336-66C8-F0646DD1231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9C052EA-05E2-403D-965E-52D1BFFA2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6906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94752D-3D58-B30D-C180-8E0F2D788FDF}"/>
              </a:ext>
            </a:extLst>
          </p:cNvPr>
          <p:cNvSpPr>
            <a:spLocks noGrp="1"/>
          </p:cNvSpPr>
          <p:nvPr>
            <p:ph type="title"/>
          </p:nvPr>
        </p:nvSpPr>
        <p:spPr>
          <a:xfrm>
            <a:off x="628650" y="133668"/>
            <a:ext cx="7886700" cy="947880"/>
          </a:xfrm>
        </p:spPr>
        <p:txBody>
          <a:bodyPr>
            <a:normAutofit/>
          </a:bodyPr>
          <a:lstStyle/>
          <a:p>
            <a:r>
              <a:rPr lang="en-US" sz="3100" dirty="0">
                <a:solidFill>
                  <a:schemeClr val="bg1"/>
                </a:solidFill>
              </a:rPr>
              <a:t>MySQL Database Schema </a:t>
            </a:r>
          </a:p>
        </p:txBody>
      </p:sp>
      <p:sp useBgFill="1">
        <p:nvSpPr>
          <p:cNvPr id="16" name="Rectangle 15">
            <a:extLst>
              <a:ext uri="{FF2B5EF4-FFF2-40B4-BE49-F238E27FC236}">
                <a16:creationId xmlns:a16="http://schemas.microsoft.com/office/drawing/2014/main" id="{4C1936B8-2FFB-4F78-8388-B8C282B8A5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9144000" cy="5166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D70D4AD2-20C0-F2D4-F8B2-444AB8178F54}"/>
              </a:ext>
            </a:extLst>
          </p:cNvPr>
          <p:cNvSpPr>
            <a:spLocks noGrp="1"/>
          </p:cNvSpPr>
          <p:nvPr>
            <p:ph sz="half" idx="1"/>
          </p:nvPr>
        </p:nvSpPr>
        <p:spPr>
          <a:xfrm>
            <a:off x="108155" y="1081548"/>
            <a:ext cx="4343829" cy="5776452"/>
          </a:xfrm>
        </p:spPr>
        <p:txBody>
          <a:bodyPr anchor="ctr">
            <a:normAutofit fontScale="32500" lnSpcReduction="20000"/>
          </a:bodyPr>
          <a:lstStyle/>
          <a:p>
            <a:pPr>
              <a:spcBef>
                <a:spcPts val="900"/>
              </a:spcBef>
              <a:spcAft>
                <a:spcPts val="900"/>
              </a:spcAft>
              <a:buNone/>
            </a:pPr>
            <a:endParaRPr lang="en-US" sz="1100" b="0" i="0" dirty="0">
              <a:effectLst/>
              <a:latin typeface="Courier New" panose="02070309020205020404" pitchFamily="49" charset="0"/>
              <a:cs typeface="Courier New" panose="02070309020205020404" pitchFamily="49" charset="0"/>
            </a:endParaRPr>
          </a:p>
          <a:p>
            <a:pPr>
              <a:spcBef>
                <a:spcPts val="900"/>
              </a:spcBef>
              <a:spcAft>
                <a:spcPts val="900"/>
              </a:spcAft>
              <a:buNone/>
            </a:pPr>
            <a:endParaRPr lang="en-US" sz="1100" b="0" i="0" dirty="0">
              <a:effectLst/>
              <a:latin typeface="Courier New" panose="02070309020205020404" pitchFamily="49" charset="0"/>
              <a:cs typeface="Courier New" panose="02070309020205020404" pitchFamily="49" charset="0"/>
            </a:endParaRPr>
          </a:p>
          <a:p>
            <a:pPr>
              <a:spcBef>
                <a:spcPts val="900"/>
              </a:spcBef>
              <a:spcAft>
                <a:spcPts val="900"/>
              </a:spcAft>
              <a:buNone/>
            </a:pPr>
            <a:r>
              <a:rPr lang="en-US" sz="2800" b="0" i="0" dirty="0">
                <a:effectLst/>
                <a:latin typeface="Courier New" panose="02070309020205020404" pitchFamily="49" charset="0"/>
                <a:cs typeface="Courier New" panose="02070309020205020404" pitchFamily="49" charset="0"/>
              </a:rPr>
              <a:t>create database </a:t>
            </a:r>
            <a:r>
              <a:rPr lang="en-US" sz="2800" b="0" i="0" dirty="0" err="1">
                <a:effectLst/>
                <a:latin typeface="Courier New" panose="02070309020205020404" pitchFamily="49" charset="0"/>
                <a:cs typeface="Courier New" panose="02070309020205020404" pitchFamily="49" charset="0"/>
              </a:rPr>
              <a:t>annandale_cupcakes</a:t>
            </a:r>
            <a:r>
              <a:rPr lang="en-US" sz="2800" b="0" i="0" dirty="0">
                <a:effectLst/>
                <a:latin typeface="Courier New" panose="02070309020205020404" pitchFamily="49" charset="0"/>
                <a:cs typeface="Courier New" panose="02070309020205020404" pitchFamily="49" charset="0"/>
              </a:rPr>
              <a: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use </a:t>
            </a:r>
            <a:r>
              <a:rPr lang="en-US" sz="2800" b="0" i="0" dirty="0" err="1">
                <a:effectLst/>
                <a:latin typeface="Courier New" panose="02070309020205020404" pitchFamily="49" charset="0"/>
                <a:cs typeface="Courier New" panose="02070309020205020404" pitchFamily="49" charset="0"/>
              </a:rPr>
              <a:t>annandale_cupcakes</a:t>
            </a:r>
            <a:r>
              <a:rPr lang="en-US" sz="2800" b="0" i="0" dirty="0">
                <a:effectLst/>
                <a:latin typeface="Courier New" panose="02070309020205020404" pitchFamily="49" charset="0"/>
                <a:cs typeface="Courier New" panose="02070309020205020404" pitchFamily="49" charset="0"/>
              </a:rPr>
              <a:t>;</a:t>
            </a:r>
          </a:p>
          <a:p>
            <a:pPr>
              <a:spcBef>
                <a:spcPts val="900"/>
              </a:spcBef>
              <a:spcAft>
                <a:spcPts val="900"/>
              </a:spcAft>
              <a:buNone/>
            </a:pPr>
            <a:r>
              <a:rPr lang="en-US" sz="2800" b="0" i="0" dirty="0">
                <a:effectLst/>
                <a:latin typeface="Courier New" panose="02070309020205020404" pitchFamily="49" charset="0"/>
                <a:cs typeface="Courier New" panose="02070309020205020404" pitchFamily="49" charset="0"/>
              </a:rPr>
              <a:t>create table customer (</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customer_id</a:t>
            </a:r>
            <a:r>
              <a:rPr lang="en-US" sz="2800" b="0" i="0" dirty="0">
                <a:effectLst/>
                <a:latin typeface="Courier New" panose="02070309020205020404" pitchFamily="49" charset="0"/>
                <a:cs typeface="Courier New" panose="02070309020205020404" pitchFamily="49" charset="0"/>
              </a:rPr>
              <a:t> int primary key </a:t>
            </a:r>
            <a:r>
              <a:rPr lang="en-US" sz="2800" b="0" i="0" dirty="0" err="1">
                <a:effectLst/>
                <a:latin typeface="Courier New" panose="02070309020205020404" pitchFamily="49" charset="0"/>
                <a:cs typeface="Courier New" panose="02070309020205020404" pitchFamily="49" charset="0"/>
              </a:rPr>
              <a:t>auto_increment</a:t>
            </a:r>
            <a:r>
              <a:rPr lang="en-US" sz="2800" b="0" i="0" dirty="0">
                <a:effectLst/>
                <a:latin typeface="Courier New" panose="02070309020205020404" pitchFamily="49" charset="0"/>
                <a:cs typeface="Courier New" panose="02070309020205020404" pitchFamily="49" charset="0"/>
              </a:rPr>
              <a: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first_name</a:t>
            </a:r>
            <a:r>
              <a:rPr lang="en-US" sz="2800" b="0" i="0" dirty="0">
                <a:effectLst/>
                <a:latin typeface="Courier New" panose="02070309020205020404" pitchFamily="49" charset="0"/>
                <a:cs typeface="Courier New" panose="02070309020205020404" pitchFamily="49" charset="0"/>
              </a:rPr>
              <a:t> varchar(50),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last_name</a:t>
            </a:r>
            <a:r>
              <a:rPr lang="en-US" sz="2800" b="0" i="0" dirty="0">
                <a:effectLst/>
                <a:latin typeface="Courier New" panose="02070309020205020404" pitchFamily="49" charset="0"/>
                <a:cs typeface="Courier New" panose="02070309020205020404" pitchFamily="49" charset="0"/>
              </a:rPr>
              <a:t> varchar(50),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phone_number</a:t>
            </a:r>
            <a:r>
              <a:rPr lang="en-US" sz="2800" b="0" i="0" dirty="0">
                <a:effectLst/>
                <a:latin typeface="Courier New" panose="02070309020205020404" pitchFamily="49" charset="0"/>
                <a:cs typeface="Courier New" panose="02070309020205020404" pitchFamily="49" charset="0"/>
              </a:rPr>
              <a:t> varchar(20),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email varchar(30),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street varchar(100),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city varchar(50),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state varchar(25),</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zip varchar(10),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notes varchar(255),</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created_at</a:t>
            </a:r>
            <a:r>
              <a:rPr lang="en-US" sz="2800" b="0" i="0" dirty="0">
                <a:effectLst/>
                <a:latin typeface="Courier New" panose="02070309020205020404" pitchFamily="49" charset="0"/>
                <a:cs typeface="Courier New" panose="02070309020205020404" pitchFamily="49" charset="0"/>
              </a:rPr>
              <a:t> datetime,</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updated_at</a:t>
            </a:r>
            <a:r>
              <a:rPr lang="en-US" sz="2800" b="0" i="0" dirty="0">
                <a:effectLst/>
                <a:latin typeface="Courier New" panose="02070309020205020404" pitchFamily="49" charset="0"/>
                <a:cs typeface="Courier New" panose="02070309020205020404" pitchFamily="49" charset="0"/>
              </a:rPr>
              <a:t> datetime</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a:t>
            </a:r>
          </a:p>
          <a:p>
            <a:pPr>
              <a:spcBef>
                <a:spcPts val="900"/>
              </a:spcBef>
              <a:spcAft>
                <a:spcPts val="900"/>
              </a:spcAft>
              <a:buNone/>
            </a:pPr>
            <a:r>
              <a:rPr lang="en-US" sz="2800" b="0" i="0" dirty="0">
                <a:effectLst/>
                <a:latin typeface="Courier New" panose="02070309020205020404" pitchFamily="49" charset="0"/>
                <a:cs typeface="Courier New" panose="02070309020205020404" pitchFamily="49" charset="0"/>
              </a:rPr>
              <a:t>CREATE TABLE </a:t>
            </a:r>
            <a:r>
              <a:rPr lang="en-US" sz="2800" b="0" i="0" dirty="0" err="1">
                <a:effectLst/>
                <a:latin typeface="Courier New" panose="02070309020205020404" pitchFamily="49" charset="0"/>
                <a:cs typeface="Courier New" panose="02070309020205020404" pitchFamily="49" charset="0"/>
              </a:rPr>
              <a:t>customer_note</a:t>
            </a:r>
            <a:r>
              <a:rPr lang="en-US" sz="2800" b="0" i="0" dirty="0">
                <a:effectLst/>
                <a:latin typeface="Courier New" panose="02070309020205020404" pitchFamily="49" charset="0"/>
                <a:cs typeface="Courier New" panose="02070309020205020404" pitchFamily="49" charset="0"/>
              </a:rPr>
              <a:t> (</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note_id</a:t>
            </a:r>
            <a:r>
              <a:rPr lang="en-US" sz="2800" b="0" i="0" dirty="0">
                <a:effectLst/>
                <a:latin typeface="Courier New" panose="02070309020205020404" pitchFamily="49" charset="0"/>
                <a:cs typeface="Courier New" panose="02070309020205020404" pitchFamily="49" charset="0"/>
              </a:rPr>
              <a:t> INT PRIMARY KEY AUTO_INCREMENT,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subject VARCHAR(100), </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note TEXT,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customer_id</a:t>
            </a:r>
            <a:r>
              <a:rPr lang="en-US" sz="2800" b="0" i="0" dirty="0">
                <a:effectLst/>
                <a:latin typeface="Courier New" panose="02070309020205020404" pitchFamily="49" charset="0"/>
                <a:cs typeface="Courier New" panose="02070309020205020404" pitchFamily="49" charset="0"/>
              </a:rPr>
              <a:t> INT,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created_at</a:t>
            </a:r>
            <a:r>
              <a:rPr lang="en-US" sz="2800" b="0" i="0" dirty="0">
                <a:effectLst/>
                <a:latin typeface="Courier New" panose="02070309020205020404" pitchFamily="49" charset="0"/>
                <a:cs typeface="Courier New" panose="02070309020205020404" pitchFamily="49" charset="0"/>
              </a:rPr>
              <a:t> DATETIME,</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updated_at</a:t>
            </a:r>
            <a:r>
              <a:rPr lang="en-US" sz="2800" b="0" i="0" dirty="0">
                <a:effectLst/>
                <a:latin typeface="Courier New" panose="02070309020205020404" pitchFamily="49" charset="0"/>
                <a:cs typeface="Courier New" panose="02070309020205020404" pitchFamily="49" charset="0"/>
              </a:rPr>
              <a:t> DATETIME,</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FOREIGN KEY (</a:t>
            </a:r>
            <a:r>
              <a:rPr lang="en-US" sz="2800" b="0" i="0" dirty="0" err="1">
                <a:effectLst/>
                <a:latin typeface="Courier New" panose="02070309020205020404" pitchFamily="49" charset="0"/>
                <a:cs typeface="Courier New" panose="02070309020205020404" pitchFamily="49" charset="0"/>
              </a:rPr>
              <a:t>customer_id</a:t>
            </a:r>
            <a:r>
              <a:rPr lang="en-US" sz="2800" b="0" i="0" dirty="0">
                <a:effectLst/>
                <a:latin typeface="Courier New" panose="02070309020205020404" pitchFamily="49" charset="0"/>
                <a:cs typeface="Courier New" panose="02070309020205020404" pitchFamily="49" charset="0"/>
              </a:rPr>
              <a:t>) REFERENCES customer(</a:t>
            </a:r>
            <a:r>
              <a:rPr lang="en-US" sz="2800" b="0" i="0" dirty="0" err="1">
                <a:effectLst/>
                <a:latin typeface="Courier New" panose="02070309020205020404" pitchFamily="49" charset="0"/>
                <a:cs typeface="Courier New" panose="02070309020205020404" pitchFamily="49" charset="0"/>
              </a:rPr>
              <a:t>customer_id</a:t>
            </a:r>
            <a:r>
              <a:rPr lang="en-US" sz="2800" b="0" i="0" dirty="0">
                <a:effectLst/>
                <a:latin typeface="Courier New" panose="02070309020205020404" pitchFamily="49" charset="0"/>
                <a:cs typeface="Courier New" panose="02070309020205020404" pitchFamily="49" charset="0"/>
              </a:rPr>
              <a: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a:t>
            </a:r>
          </a:p>
          <a:p>
            <a:pPr>
              <a:spcBef>
                <a:spcPts val="900"/>
              </a:spcBef>
              <a:spcAft>
                <a:spcPts val="900"/>
              </a:spcAft>
            </a:pPr>
            <a:r>
              <a:rPr lang="en-US" sz="2800" b="0" i="0" dirty="0">
                <a:effectLst/>
                <a:latin typeface="Courier New" panose="02070309020205020404" pitchFamily="49" charset="0"/>
                <a:cs typeface="Courier New" panose="02070309020205020404" pitchFamily="49" charset="0"/>
              </a:rPr>
              <a:t>CREATE TABLE product (</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product_id</a:t>
            </a:r>
            <a:r>
              <a:rPr lang="en-US" sz="2800" b="0" i="0" dirty="0">
                <a:effectLst/>
                <a:latin typeface="Courier New" panose="02070309020205020404" pitchFamily="49" charset="0"/>
                <a:cs typeface="Courier New" panose="02070309020205020404" pitchFamily="49" charset="0"/>
              </a:rPr>
              <a:t> INT PRIMARY KEY AUTO_INCREMENT,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cupcake_type</a:t>
            </a:r>
            <a:r>
              <a:rPr lang="en-US" sz="2800" b="0" i="0" dirty="0">
                <a:effectLst/>
                <a:latin typeface="Courier New" panose="02070309020205020404" pitchFamily="49" charset="0"/>
                <a:cs typeface="Courier New" panose="02070309020205020404" pitchFamily="49" charset="0"/>
              </a:rPr>
              <a:t> VARCHAR(50),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cupcake_name</a:t>
            </a:r>
            <a:r>
              <a:rPr lang="en-US" sz="2800" b="0" i="0" dirty="0">
                <a:effectLst/>
                <a:latin typeface="Courier New" panose="02070309020205020404" pitchFamily="49" charset="0"/>
                <a:cs typeface="Courier New" panose="02070309020205020404" pitchFamily="49" charset="0"/>
              </a:rPr>
              <a:t> VARCHAR(100),</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price DECIMAL(10, 2),</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cost_per_unit</a:t>
            </a:r>
            <a:r>
              <a:rPr lang="en-US" sz="2800" b="0" i="0" dirty="0">
                <a:effectLst/>
                <a:latin typeface="Courier New" panose="02070309020205020404" pitchFamily="49" charset="0"/>
                <a:cs typeface="Courier New" panose="02070309020205020404" pitchFamily="49" charset="0"/>
              </a:rPr>
              <a:t> DECIMAL(10, 2),</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notes TEXT,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unit_capacity_per_day</a:t>
            </a:r>
            <a:r>
              <a:rPr lang="en-US" sz="2800" b="0" i="0" dirty="0">
                <a:effectLst/>
                <a:latin typeface="Courier New" panose="02070309020205020404" pitchFamily="49" charset="0"/>
                <a:cs typeface="Courier New" panose="02070309020205020404" pitchFamily="49" charset="0"/>
              </a:rPr>
              <a:t> INT,</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created_at</a:t>
            </a:r>
            <a:r>
              <a:rPr lang="en-US" sz="2800" b="0" i="0" dirty="0">
                <a:effectLst/>
                <a:latin typeface="Courier New" panose="02070309020205020404" pitchFamily="49" charset="0"/>
                <a:cs typeface="Courier New" panose="02070309020205020404" pitchFamily="49" charset="0"/>
              </a:rPr>
              <a:t> DATETIME,</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    </a:t>
            </a:r>
            <a:r>
              <a:rPr lang="en-US" sz="2800" b="0" i="0" dirty="0" err="1">
                <a:effectLst/>
                <a:latin typeface="Courier New" panose="02070309020205020404" pitchFamily="49" charset="0"/>
                <a:cs typeface="Courier New" panose="02070309020205020404" pitchFamily="49" charset="0"/>
              </a:rPr>
              <a:t>updated_at</a:t>
            </a:r>
            <a:r>
              <a:rPr lang="en-US" sz="2800" b="0" i="0" dirty="0">
                <a:effectLst/>
                <a:latin typeface="Courier New" panose="02070309020205020404" pitchFamily="49" charset="0"/>
                <a:cs typeface="Courier New" panose="02070309020205020404" pitchFamily="49" charset="0"/>
              </a:rPr>
              <a:t> DATETIME</a:t>
            </a:r>
            <a:br>
              <a:rPr lang="en-US" sz="2800" b="0" i="0" dirty="0">
                <a:effectLst/>
                <a:latin typeface="Courier New" panose="02070309020205020404" pitchFamily="49" charset="0"/>
                <a:cs typeface="Courier New" panose="02070309020205020404" pitchFamily="49" charset="0"/>
              </a:rPr>
            </a:br>
            <a:r>
              <a:rPr lang="en-US" sz="2800" b="0" i="0" dirty="0">
                <a:effectLst/>
                <a:latin typeface="Courier New" panose="02070309020205020404" pitchFamily="49" charset="0"/>
                <a:cs typeface="Courier New" panose="02070309020205020404" pitchFamily="49" charset="0"/>
              </a:rPr>
              <a:t>);</a:t>
            </a:r>
          </a:p>
          <a:p>
            <a:endParaRPr lang="en-US" sz="600" dirty="0"/>
          </a:p>
        </p:txBody>
      </p:sp>
      <p:sp>
        <p:nvSpPr>
          <p:cNvPr id="6" name="Content Placeholder 5">
            <a:extLst>
              <a:ext uri="{FF2B5EF4-FFF2-40B4-BE49-F238E27FC236}">
                <a16:creationId xmlns:a16="http://schemas.microsoft.com/office/drawing/2014/main" id="{247D974C-4C7A-9CC0-4041-262EFB33EC9D}"/>
              </a:ext>
            </a:extLst>
          </p:cNvPr>
          <p:cNvSpPr>
            <a:spLocks noGrp="1"/>
          </p:cNvSpPr>
          <p:nvPr>
            <p:ph sz="half" idx="2"/>
          </p:nvPr>
        </p:nvSpPr>
        <p:spPr>
          <a:xfrm>
            <a:off x="4692015" y="1081548"/>
            <a:ext cx="4343829" cy="5642783"/>
          </a:xfrm>
        </p:spPr>
        <p:txBody>
          <a:bodyPr anchor="ctr">
            <a:normAutofit fontScale="32500" lnSpcReduction="20000"/>
          </a:bodyPr>
          <a:lstStyle/>
          <a:p>
            <a:pPr>
              <a:spcBef>
                <a:spcPts val="900"/>
              </a:spcBef>
              <a:spcAft>
                <a:spcPts val="900"/>
              </a:spcAft>
              <a:buNone/>
            </a:pPr>
            <a:endParaRPr lang="en-US" sz="1200" b="0" i="0" dirty="0">
              <a:effectLst/>
              <a:latin typeface="Lato Extended"/>
            </a:endParaRPr>
          </a:p>
          <a:p>
            <a:pPr>
              <a:spcBef>
                <a:spcPts val="900"/>
              </a:spcBef>
              <a:spcAft>
                <a:spcPts val="900"/>
              </a:spcAft>
              <a:buNone/>
            </a:pPr>
            <a:endParaRPr lang="en-US" sz="1200" b="0" i="0" dirty="0">
              <a:effectLst/>
              <a:latin typeface="Lato Extended"/>
            </a:endParaRPr>
          </a:p>
          <a:p>
            <a:pPr>
              <a:spcBef>
                <a:spcPts val="900"/>
              </a:spcBef>
              <a:spcAft>
                <a:spcPts val="900"/>
              </a:spcAft>
              <a:buFont typeface="Arial" panose="020B0604020202020204" pitchFamily="34" charset="0"/>
              <a:buNone/>
            </a:pPr>
            <a:endParaRPr lang="en-US" sz="1200" b="0" i="0" dirty="0">
              <a:effectLst/>
              <a:latin typeface="Courier New" panose="02070309020205020404" pitchFamily="49" charset="0"/>
              <a:cs typeface="Courier New" panose="02070309020205020404" pitchFamily="49" charset="0"/>
            </a:endParaRPr>
          </a:p>
          <a:p>
            <a:pPr>
              <a:spcBef>
                <a:spcPts val="900"/>
              </a:spcBef>
              <a:spcAft>
                <a:spcPts val="900"/>
              </a:spcAft>
              <a:buFont typeface="Arial" panose="020B0604020202020204" pitchFamily="34" charset="0"/>
              <a:buNone/>
            </a:pPr>
            <a:r>
              <a:rPr lang="en-US" sz="2500" b="0" i="0" dirty="0">
                <a:effectLst/>
                <a:latin typeface="Courier New" panose="02070309020205020404" pitchFamily="49" charset="0"/>
                <a:cs typeface="Courier New" panose="02070309020205020404" pitchFamily="49" charset="0"/>
              </a:rPr>
              <a:t>CREATE TABLE sale (</a:t>
            </a:r>
            <a:br>
              <a:rPr lang="en-US" sz="2500" b="0" i="0" dirty="0">
                <a:effectLst/>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 INT PRIMARY KEY AUTO_INCREMENT,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customer_id</a:t>
            </a:r>
            <a:r>
              <a:rPr lang="en-US" sz="2500" dirty="0">
                <a:latin typeface="Courier New" panose="02070309020205020404" pitchFamily="49" charset="0"/>
                <a:cs typeface="Courier New" panose="02070309020205020404" pitchFamily="49" charset="0"/>
              </a:rPr>
              <a:t> INT,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sale_date</a:t>
            </a:r>
            <a:r>
              <a:rPr lang="en-US" sz="2500" dirty="0">
                <a:latin typeface="Courier New" panose="02070309020205020404" pitchFamily="49" charset="0"/>
                <a:cs typeface="Courier New" panose="02070309020205020404" pitchFamily="49" charset="0"/>
              </a:rPr>
              <a:t> DATE,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notes TEXT,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created_at</a:t>
            </a:r>
            <a:r>
              <a:rPr lang="en-US" sz="2500" dirty="0">
                <a:latin typeface="Courier New" panose="02070309020205020404" pitchFamily="49" charset="0"/>
                <a:cs typeface="Courier New" panose="02070309020205020404" pitchFamily="49" charset="0"/>
              </a:rPr>
              <a:t> DATETIME,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updated_at</a:t>
            </a:r>
            <a:r>
              <a:rPr lang="en-US" sz="2500" dirty="0">
                <a:latin typeface="Courier New" panose="02070309020205020404" pitchFamily="49" charset="0"/>
                <a:cs typeface="Courier New" panose="02070309020205020404" pitchFamily="49" charset="0"/>
              </a:rPr>
              <a:t> DATETIME,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FOREIGN KEY (</a:t>
            </a:r>
            <a:r>
              <a:rPr lang="en-US" sz="2500" dirty="0" err="1">
                <a:latin typeface="Courier New" panose="02070309020205020404" pitchFamily="49" charset="0"/>
                <a:cs typeface="Courier New" panose="02070309020205020404" pitchFamily="49" charset="0"/>
              </a:rPr>
              <a:t>customer_id</a:t>
            </a:r>
            <a:r>
              <a:rPr lang="en-US" sz="2500" dirty="0">
                <a:latin typeface="Courier New" panose="02070309020205020404" pitchFamily="49" charset="0"/>
                <a:cs typeface="Courier New" panose="02070309020205020404" pitchFamily="49" charset="0"/>
              </a:rPr>
              <a:t>) REFERENCES customer(</a:t>
            </a:r>
            <a:r>
              <a:rPr lang="en-US" sz="2500" dirty="0" err="1">
                <a:latin typeface="Courier New" panose="02070309020205020404" pitchFamily="49" charset="0"/>
                <a:cs typeface="Courier New" panose="02070309020205020404" pitchFamily="49" charset="0"/>
              </a:rPr>
              <a:t>customer_id</a:t>
            </a:r>
            <a:r>
              <a:rPr lang="en-US" sz="2500" dirty="0">
                <a:latin typeface="Courier New" panose="02070309020205020404" pitchFamily="49" charset="0"/>
                <a:cs typeface="Courier New" panose="02070309020205020404" pitchFamily="49" charset="0"/>
              </a:rPr>
              <a: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a:t>
            </a:r>
          </a:p>
          <a:p>
            <a:pPr>
              <a:spcBef>
                <a:spcPts val="900"/>
              </a:spcBef>
              <a:spcAft>
                <a:spcPts val="900"/>
              </a:spcAft>
              <a:buFont typeface="Arial" panose="020B0604020202020204" pitchFamily="34" charset="0"/>
              <a:buNone/>
            </a:pPr>
            <a:r>
              <a:rPr lang="en-US" sz="2500" dirty="0">
                <a:latin typeface="Courier New" panose="02070309020205020404" pitchFamily="49" charset="0"/>
                <a:cs typeface="Courier New" panose="02070309020205020404" pitchFamily="49" charset="0"/>
              </a:rPr>
              <a:t>CREATE TABLE event (</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event_id</a:t>
            </a:r>
            <a:r>
              <a:rPr lang="en-US" sz="2500" dirty="0">
                <a:latin typeface="Courier New" panose="02070309020205020404" pitchFamily="49" charset="0"/>
                <a:cs typeface="Courier New" panose="02070309020205020404" pitchFamily="49" charset="0"/>
              </a:rPr>
              <a:t> INT PRIMARY KEY AUTO_INCREMENT,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customer_id</a:t>
            </a:r>
            <a:r>
              <a:rPr lang="en-US" sz="2500" dirty="0">
                <a:latin typeface="Courier New" panose="02070309020205020404" pitchFamily="49" charset="0"/>
                <a:cs typeface="Courier New" panose="02070309020205020404" pitchFamily="49" charset="0"/>
              </a:rPr>
              <a:t> INT,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 INT,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event_datetime</a:t>
            </a:r>
            <a:r>
              <a:rPr lang="en-US" sz="2500" dirty="0">
                <a:latin typeface="Courier New" panose="02070309020205020404" pitchFamily="49" charset="0"/>
                <a:cs typeface="Courier New" panose="02070309020205020404" pitchFamily="49" charset="0"/>
              </a:rPr>
              <a:t> DATETIME,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bake_order_datetime</a:t>
            </a:r>
            <a:r>
              <a:rPr lang="en-US" sz="2500" dirty="0">
                <a:latin typeface="Courier New" panose="02070309020205020404" pitchFamily="49" charset="0"/>
                <a:cs typeface="Courier New" panose="02070309020205020404" pitchFamily="49" charset="0"/>
              </a:rPr>
              <a:t> DATETIME,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description TEXT,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delivery_instructions</a:t>
            </a:r>
            <a:r>
              <a:rPr lang="en-US" sz="2500" dirty="0">
                <a:latin typeface="Courier New" panose="02070309020205020404" pitchFamily="49" charset="0"/>
                <a:cs typeface="Courier New" panose="02070309020205020404" pitchFamily="49" charset="0"/>
              </a:rPr>
              <a:t> TEXT,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notes TEXT,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FOREIGN KEY (</a:t>
            </a:r>
            <a:r>
              <a:rPr lang="en-US" sz="2500" dirty="0" err="1">
                <a:latin typeface="Courier New" panose="02070309020205020404" pitchFamily="49" charset="0"/>
                <a:cs typeface="Courier New" panose="02070309020205020404" pitchFamily="49" charset="0"/>
              </a:rPr>
              <a:t>customer_id</a:t>
            </a:r>
            <a:r>
              <a:rPr lang="en-US" sz="2500" dirty="0">
                <a:latin typeface="Courier New" panose="02070309020205020404" pitchFamily="49" charset="0"/>
                <a:cs typeface="Courier New" panose="02070309020205020404" pitchFamily="49" charset="0"/>
              </a:rPr>
              <a:t>) REFERENCES customer(</a:t>
            </a:r>
            <a:r>
              <a:rPr lang="en-US" sz="2500" dirty="0" err="1">
                <a:latin typeface="Courier New" panose="02070309020205020404" pitchFamily="49" charset="0"/>
                <a:cs typeface="Courier New" panose="02070309020205020404" pitchFamily="49" charset="0"/>
              </a:rPr>
              <a:t>customer_id</a:t>
            </a:r>
            <a:r>
              <a:rPr lang="en-US" sz="2500" dirty="0">
                <a:latin typeface="Courier New" panose="02070309020205020404" pitchFamily="49" charset="0"/>
                <a:cs typeface="Courier New" panose="02070309020205020404" pitchFamily="49" charset="0"/>
              </a:rPr>
              <a: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FOREIGN KEY (</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 REFERENCES sale(</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a:t>
            </a:r>
          </a:p>
          <a:p>
            <a:pPr>
              <a:spcBef>
                <a:spcPts val="900"/>
              </a:spcBef>
              <a:spcAft>
                <a:spcPts val="900"/>
              </a:spcAft>
              <a:buFont typeface="Arial" panose="020B0604020202020204" pitchFamily="34" charset="0"/>
              <a:buNone/>
            </a:pPr>
            <a:r>
              <a:rPr lang="en-US" sz="2500" dirty="0">
                <a:latin typeface="Courier New" panose="02070309020205020404" pitchFamily="49" charset="0"/>
                <a:cs typeface="Courier New" panose="02070309020205020404" pitchFamily="49" charset="0"/>
              </a:rPr>
              <a:t>CREATE TABLE payment (</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payment_id</a:t>
            </a:r>
            <a:r>
              <a:rPr lang="en-US" sz="2500" dirty="0">
                <a:latin typeface="Courier New" panose="02070309020205020404" pitchFamily="49" charset="0"/>
                <a:cs typeface="Courier New" panose="02070309020205020404" pitchFamily="49" charset="0"/>
              </a:rPr>
              <a:t> INT PRIMARY KEY AUTO_INCREMENT,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payment_method</a:t>
            </a:r>
            <a:r>
              <a:rPr lang="en-US" sz="2500" dirty="0">
                <a:latin typeface="Courier New" panose="02070309020205020404" pitchFamily="49" charset="0"/>
                <a:cs typeface="Courier New" panose="02070309020205020404" pitchFamily="49" charset="0"/>
              </a:rPr>
              <a:t> VARCHAR(50),</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amount DECIMAL(10, 2),</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notes TEXT,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 INT,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created_at</a:t>
            </a:r>
            <a:r>
              <a:rPr lang="en-US" sz="2500" dirty="0">
                <a:latin typeface="Courier New" panose="02070309020205020404" pitchFamily="49" charset="0"/>
                <a:cs typeface="Courier New" panose="02070309020205020404" pitchFamily="49" charset="0"/>
              </a:rPr>
              <a:t> DATETIME,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updated_at</a:t>
            </a:r>
            <a:r>
              <a:rPr lang="en-US" sz="2500" dirty="0">
                <a:latin typeface="Courier New" panose="02070309020205020404" pitchFamily="49" charset="0"/>
                <a:cs typeface="Courier New" panose="02070309020205020404" pitchFamily="49" charset="0"/>
              </a:rPr>
              <a:t> DATETIME,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FOREIGN KEY (</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 REFERENCES sale(</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a:t>
            </a:r>
          </a:p>
          <a:p>
            <a:pPr>
              <a:spcBef>
                <a:spcPts val="900"/>
              </a:spcBef>
              <a:spcAft>
                <a:spcPts val="900"/>
              </a:spcAft>
            </a:pPr>
            <a:r>
              <a:rPr lang="en-US" sz="2500" dirty="0">
                <a:latin typeface="Courier New" panose="02070309020205020404" pitchFamily="49" charset="0"/>
                <a:cs typeface="Courier New" panose="02070309020205020404" pitchFamily="49" charset="0"/>
              </a:rPr>
              <a:t>CREATE TABLE </a:t>
            </a:r>
            <a:r>
              <a:rPr lang="en-US" sz="2500" dirty="0" err="1">
                <a:latin typeface="Courier New" panose="02070309020205020404" pitchFamily="49" charset="0"/>
                <a:cs typeface="Courier New" panose="02070309020205020404" pitchFamily="49" charset="0"/>
              </a:rPr>
              <a:t>sale_item</a:t>
            </a:r>
            <a:r>
              <a:rPr lang="en-US" sz="2500" dirty="0">
                <a:latin typeface="Courier New" panose="02070309020205020404" pitchFamily="49" charset="0"/>
                <a:cs typeface="Courier New" panose="02070309020205020404" pitchFamily="49" charset="0"/>
              </a:rPr>
              <a:t> (</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sale_item_id</a:t>
            </a:r>
            <a:r>
              <a:rPr lang="en-US" sz="2500" dirty="0">
                <a:latin typeface="Courier New" panose="02070309020205020404" pitchFamily="49" charset="0"/>
                <a:cs typeface="Courier New" panose="02070309020205020404" pitchFamily="49" charset="0"/>
              </a:rPr>
              <a:t> INT PRIMARY KEY AUTO_INCREMENT,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 INT,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product_id</a:t>
            </a:r>
            <a:r>
              <a:rPr lang="en-US" sz="2500" dirty="0">
                <a:latin typeface="Courier New" panose="02070309020205020404" pitchFamily="49" charset="0"/>
                <a:cs typeface="Courier New" panose="02070309020205020404" pitchFamily="49" charset="0"/>
              </a:rPr>
              <a:t> INT,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quantity INT,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created_at</a:t>
            </a:r>
            <a:r>
              <a:rPr lang="en-US" sz="2500" dirty="0">
                <a:latin typeface="Courier New" panose="02070309020205020404" pitchFamily="49" charset="0"/>
                <a:cs typeface="Courier New" panose="02070309020205020404" pitchFamily="49" charset="0"/>
              </a:rPr>
              <a:t> DATETIME,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updated_at</a:t>
            </a:r>
            <a:r>
              <a:rPr lang="en-US" sz="2500" dirty="0">
                <a:latin typeface="Courier New" panose="02070309020205020404" pitchFamily="49" charset="0"/>
                <a:cs typeface="Courier New" panose="02070309020205020404" pitchFamily="49" charset="0"/>
              </a:rPr>
              <a:t> DATETIME,</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FOREIGN KEY (</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 REFERENCES sale(</a:t>
            </a:r>
            <a:r>
              <a:rPr lang="en-US" sz="2500" dirty="0" err="1">
                <a:latin typeface="Courier New" panose="02070309020205020404" pitchFamily="49" charset="0"/>
                <a:cs typeface="Courier New" panose="02070309020205020404" pitchFamily="49" charset="0"/>
              </a:rPr>
              <a:t>sale_id</a:t>
            </a:r>
            <a:r>
              <a:rPr lang="en-US" sz="2500" dirty="0">
                <a:latin typeface="Courier New" panose="02070309020205020404" pitchFamily="49" charset="0"/>
                <a:cs typeface="Courier New" panose="02070309020205020404" pitchFamily="49" charset="0"/>
              </a:rPr>
              <a: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    FOREIGN KEY (</a:t>
            </a:r>
            <a:r>
              <a:rPr lang="en-US" sz="2500" dirty="0" err="1">
                <a:latin typeface="Courier New" panose="02070309020205020404" pitchFamily="49" charset="0"/>
                <a:cs typeface="Courier New" panose="02070309020205020404" pitchFamily="49" charset="0"/>
              </a:rPr>
              <a:t>product_id</a:t>
            </a:r>
            <a:r>
              <a:rPr lang="en-US" sz="2500" dirty="0">
                <a:latin typeface="Courier New" panose="02070309020205020404" pitchFamily="49" charset="0"/>
                <a:cs typeface="Courier New" panose="02070309020205020404" pitchFamily="49" charset="0"/>
              </a:rPr>
              <a:t>) REFERENCES product(</a:t>
            </a:r>
            <a:r>
              <a:rPr lang="en-US" sz="2500" dirty="0" err="1">
                <a:latin typeface="Courier New" panose="02070309020205020404" pitchFamily="49" charset="0"/>
                <a:cs typeface="Courier New" panose="02070309020205020404" pitchFamily="49" charset="0"/>
              </a:rPr>
              <a:t>product_id</a:t>
            </a:r>
            <a:r>
              <a:rPr lang="en-US" sz="2500" dirty="0">
                <a:latin typeface="Courier New" panose="02070309020205020404" pitchFamily="49" charset="0"/>
                <a:cs typeface="Courier New" panose="02070309020205020404" pitchFamily="49" charset="0"/>
              </a:rPr>
              <a:t>)</a:t>
            </a:r>
            <a:br>
              <a:rPr lang="en-US" sz="2500" dirty="0">
                <a:latin typeface="Courier New" panose="02070309020205020404" pitchFamily="49" charset="0"/>
                <a:cs typeface="Courier New" panose="02070309020205020404" pitchFamily="49" charset="0"/>
              </a:rPr>
            </a:br>
            <a:r>
              <a:rPr lang="en-US" sz="2500" dirty="0">
                <a:latin typeface="Courier New" panose="02070309020205020404" pitchFamily="49" charset="0"/>
                <a:cs typeface="Courier New" panose="02070309020205020404" pitchFamily="49" charset="0"/>
              </a:rPr>
              <a:t>);</a:t>
            </a:r>
          </a:p>
          <a:p>
            <a:pPr marL="0" indent="0">
              <a:buNone/>
            </a:pPr>
            <a:endParaRPr lang="en-US" sz="400" dirty="0"/>
          </a:p>
        </p:txBody>
      </p:sp>
    </p:spTree>
    <p:extLst>
      <p:ext uri="{BB962C8B-B14F-4D97-AF65-F5344CB8AC3E}">
        <p14:creationId xmlns:p14="http://schemas.microsoft.com/office/powerpoint/2010/main" val="2630685717"/>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4" name="Rectangle 22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14">
            <a:extLst>
              <a:ext uri="{FF2B5EF4-FFF2-40B4-BE49-F238E27FC236}">
                <a16:creationId xmlns:a16="http://schemas.microsoft.com/office/drawing/2014/main" id="{EEE4E2F3-DBE3-8A9E-2880-5ECFEB90D3F1}"/>
              </a:ext>
            </a:extLst>
          </p:cNvPr>
          <p:cNvSpPr>
            <a:spLocks noGrp="1"/>
          </p:cNvSpPr>
          <p:nvPr>
            <p:ph idx="4294967295"/>
          </p:nvPr>
        </p:nvSpPr>
        <p:spPr>
          <a:xfrm>
            <a:off x="1028699" y="1860997"/>
            <a:ext cx="7293023" cy="3683358"/>
          </a:xfrm>
        </p:spPr>
        <p:txBody>
          <a:bodyPr vert="horz" lIns="91440" tIns="45720" rIns="91440" bIns="45720" rtlCol="0" anchor="ctr">
            <a:normAutofit/>
          </a:bodyPr>
          <a:lstStyle/>
          <a:p>
            <a:pPr marL="0" indent="-228600" defTabSz="914400"/>
            <a:r>
              <a:rPr lang="en-US" sz="1700" dirty="0"/>
              <a:t>The MySQL database schema establishes a comprehensive structure for the cupcake business. It includes tables for customers, products, sales, events, payments, and sale items, with clearly defined relationships and constraints to ensure data integrity and support business operations efficiently.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227028-AF84-F02A-41E0-DC41230C8B95}"/>
              </a:ext>
            </a:extLst>
          </p:cNvPr>
          <p:cNvSpPr>
            <a:spLocks noGrp="1"/>
          </p:cNvSpPr>
          <p:nvPr>
            <p:ph type="title"/>
          </p:nvPr>
        </p:nvSpPr>
        <p:spPr>
          <a:xfrm>
            <a:off x="571500" y="110501"/>
            <a:ext cx="7886700" cy="1027419"/>
          </a:xfrm>
        </p:spPr>
        <p:txBody>
          <a:bodyPr>
            <a:normAutofit/>
          </a:bodyPr>
          <a:lstStyle/>
          <a:p>
            <a:pPr algn="ctr"/>
            <a:r>
              <a:rPr lang="en-US"/>
              <a:t>Database Implementation and Queries</a:t>
            </a:r>
            <a:endParaRPr lang="en-US" dirty="0"/>
          </a:p>
        </p:txBody>
      </p:sp>
      <p:pic>
        <p:nvPicPr>
          <p:cNvPr id="8" name="Content Placeholder 7" descr="A screenshot of a computer&#10;&#10;AI-generated content may be incorrect.">
            <a:extLst>
              <a:ext uri="{FF2B5EF4-FFF2-40B4-BE49-F238E27FC236}">
                <a16:creationId xmlns:a16="http://schemas.microsoft.com/office/drawing/2014/main" id="{1ABB0F76-2C34-E804-34B8-5CD6DA69DB70}"/>
              </a:ext>
            </a:extLst>
          </p:cNvPr>
          <p:cNvPicPr>
            <a:picLocks noGrp="1" noChangeAspect="1"/>
          </p:cNvPicPr>
          <p:nvPr>
            <p:ph sz="half" idx="1"/>
          </p:nvPr>
        </p:nvPicPr>
        <p:blipFill>
          <a:blip r:embed="rId2"/>
          <a:stretch>
            <a:fillRect/>
          </a:stretch>
        </p:blipFill>
        <p:spPr>
          <a:xfrm>
            <a:off x="384103" y="1566670"/>
            <a:ext cx="3011774" cy="1847088"/>
          </a:xfrm>
          <a:prstGeom prst="rect">
            <a:avLst/>
          </a:prstGeom>
          <a:ln>
            <a:solidFill>
              <a:schemeClr val="bg1">
                <a:lumMod val="50000"/>
              </a:schemeClr>
            </a:solidFill>
          </a:ln>
          <a:effectLst>
            <a:outerShdw blurRad="292100" dist="139700" dir="2700000" algn="tl" rotWithShape="0">
              <a:schemeClr val="tx1">
                <a:lumMod val="85000"/>
                <a:lumOff val="15000"/>
              </a:schemeClr>
            </a:outerShdw>
          </a:effectLst>
        </p:spPr>
      </p:pic>
      <p:pic>
        <p:nvPicPr>
          <p:cNvPr id="10" name="Content Placeholder 9" descr="A screenshot of a computer&#10;&#10;AI-generated content may be incorrect.">
            <a:extLst>
              <a:ext uri="{FF2B5EF4-FFF2-40B4-BE49-F238E27FC236}">
                <a16:creationId xmlns:a16="http://schemas.microsoft.com/office/drawing/2014/main" id="{116C518C-C7BC-C232-17DE-E96B994773DA}"/>
              </a:ext>
            </a:extLst>
          </p:cNvPr>
          <p:cNvPicPr>
            <a:picLocks noGrp="1" noChangeAspect="1"/>
          </p:cNvPicPr>
          <p:nvPr>
            <p:ph sz="half" idx="2"/>
          </p:nvPr>
        </p:nvPicPr>
        <p:blipFill>
          <a:blip r:embed="rId3"/>
          <a:stretch>
            <a:fillRect/>
          </a:stretch>
        </p:blipFill>
        <p:spPr>
          <a:xfrm>
            <a:off x="5849723" y="1566669"/>
            <a:ext cx="2926080" cy="1847089"/>
          </a:xfrm>
          <a:prstGeom prst="rect">
            <a:avLst/>
          </a:prstGeom>
          <a:ln>
            <a:solidFill>
              <a:schemeClr val="bg1">
                <a:lumMod val="50000"/>
              </a:schemeClr>
            </a:solidFill>
          </a:ln>
          <a:effectLst>
            <a:outerShdw blurRad="292100" dist="139700" dir="2700000" algn="tl" rotWithShape="0">
              <a:schemeClr val="tx1">
                <a:lumMod val="85000"/>
                <a:lumOff val="15000"/>
              </a:schemeClr>
            </a:outerShdw>
          </a:effectLst>
        </p:spPr>
      </p:pic>
      <p:pic>
        <p:nvPicPr>
          <p:cNvPr id="12" name="Picture 11" descr="A screenshot of a computer&#10;&#10;AI-generated content may be incorrect.">
            <a:extLst>
              <a:ext uri="{FF2B5EF4-FFF2-40B4-BE49-F238E27FC236}">
                <a16:creationId xmlns:a16="http://schemas.microsoft.com/office/drawing/2014/main" id="{1FFC3315-0EE0-7E3D-2432-5E2571660BBD}"/>
              </a:ext>
            </a:extLst>
          </p:cNvPr>
          <p:cNvPicPr>
            <a:picLocks noChangeAspect="1"/>
          </p:cNvPicPr>
          <p:nvPr/>
        </p:nvPicPr>
        <p:blipFill>
          <a:blip r:embed="rId4"/>
          <a:stretch>
            <a:fillRect/>
          </a:stretch>
        </p:blipFill>
        <p:spPr>
          <a:xfrm>
            <a:off x="384103" y="3938359"/>
            <a:ext cx="2925418" cy="2194569"/>
          </a:xfrm>
          <a:prstGeom prst="rect">
            <a:avLst/>
          </a:prstGeom>
          <a:ln>
            <a:solidFill>
              <a:schemeClr val="bg1">
                <a:lumMod val="50000"/>
              </a:schemeClr>
            </a:solidFill>
          </a:ln>
          <a:effectLst>
            <a:outerShdw blurRad="292100" dist="139700" dir="2700000" algn="tl" rotWithShape="0">
              <a:schemeClr val="tx1">
                <a:lumMod val="85000"/>
                <a:lumOff val="15000"/>
              </a:schemeClr>
            </a:outerShdw>
          </a:effectLst>
        </p:spPr>
      </p:pic>
      <p:pic>
        <p:nvPicPr>
          <p:cNvPr id="14" name="Picture 13" descr="A screenshot of a computer&#10;&#10;AI-generated content may be incorrect.">
            <a:extLst>
              <a:ext uri="{FF2B5EF4-FFF2-40B4-BE49-F238E27FC236}">
                <a16:creationId xmlns:a16="http://schemas.microsoft.com/office/drawing/2014/main" id="{BECDD37B-C006-59EF-70F0-44FBFA693D61}"/>
              </a:ext>
            </a:extLst>
          </p:cNvPr>
          <p:cNvPicPr>
            <a:picLocks noChangeAspect="1"/>
          </p:cNvPicPr>
          <p:nvPr/>
        </p:nvPicPr>
        <p:blipFill>
          <a:blip r:embed="rId5"/>
          <a:stretch>
            <a:fillRect/>
          </a:stretch>
        </p:blipFill>
        <p:spPr>
          <a:xfrm>
            <a:off x="5849723" y="3938358"/>
            <a:ext cx="2926080" cy="2194569"/>
          </a:xfrm>
          <a:prstGeom prst="rect">
            <a:avLst/>
          </a:prstGeom>
          <a:ln>
            <a:solidFill>
              <a:schemeClr val="bg1">
                <a:lumMod val="50000"/>
              </a:schemeClr>
            </a:solidFill>
          </a:ln>
          <a:effectLst>
            <a:outerShdw blurRad="292100" dist="139700" dir="2700000" algn="tl" rotWithShape="0">
              <a:schemeClr val="tx1">
                <a:lumMod val="85000"/>
                <a:lumOff val="15000"/>
              </a:schemeClr>
            </a:outerShdw>
          </a:effectLst>
        </p:spPr>
      </p:pic>
      <p:pic>
        <p:nvPicPr>
          <p:cNvPr id="20" name="Picture 19" descr="A screenshot of a computer&#10;&#10;AI-generated content may be incorrect.">
            <a:extLst>
              <a:ext uri="{FF2B5EF4-FFF2-40B4-BE49-F238E27FC236}">
                <a16:creationId xmlns:a16="http://schemas.microsoft.com/office/drawing/2014/main" id="{F0DD3579-7392-9CB1-7ECD-6A9672D2BA66}"/>
              </a:ext>
            </a:extLst>
          </p:cNvPr>
          <p:cNvPicPr>
            <a:picLocks noChangeAspect="1"/>
          </p:cNvPicPr>
          <p:nvPr/>
        </p:nvPicPr>
        <p:blipFill>
          <a:blip r:embed="rId6"/>
          <a:stretch>
            <a:fillRect/>
          </a:stretch>
        </p:blipFill>
        <p:spPr>
          <a:xfrm>
            <a:off x="3515360" y="1940560"/>
            <a:ext cx="2214880" cy="3434080"/>
          </a:xfrm>
          <a:prstGeom prst="rect">
            <a:avLst/>
          </a:prstGeom>
          <a:ln>
            <a:solidFill>
              <a:schemeClr val="bg1">
                <a:lumMod val="50000"/>
              </a:schemeClr>
            </a:solidFill>
          </a:ln>
          <a:effectLst>
            <a:outerShdw blurRad="292100" dist="139700" dir="2700000" algn="tl" rotWithShape="0">
              <a:schemeClr val="tx1">
                <a:lumMod val="85000"/>
                <a:lumOff val="15000"/>
              </a:schemeClr>
            </a:outerShdw>
          </a:effectLst>
        </p:spPr>
      </p:pic>
    </p:spTree>
    <p:extLst>
      <p:ext uri="{BB962C8B-B14F-4D97-AF65-F5344CB8AC3E}">
        <p14:creationId xmlns:p14="http://schemas.microsoft.com/office/powerpoint/2010/main" val="3931591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F79B0DD-2C63-4EE5-804F-B8E391FC1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52" y="0"/>
            <a:ext cx="9144000" cy="6858000"/>
          </a:xfrm>
          <a:prstGeom prst="rect">
            <a:avLst/>
          </a:prstGeom>
          <a:solidFill>
            <a:schemeClr val="bg1">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27DB8AB-CD55-4C8F-9043-52652B8923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599" y="643466"/>
            <a:ext cx="4023191" cy="2706794"/>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screenshot of a computer&#10;&#10;AI-generated content may be incorrect.">
            <a:extLst>
              <a:ext uri="{FF2B5EF4-FFF2-40B4-BE49-F238E27FC236}">
                <a16:creationId xmlns:a16="http://schemas.microsoft.com/office/drawing/2014/main" id="{007A15D0-02A9-3FDD-8619-E1EDD8791F22}"/>
              </a:ext>
            </a:extLst>
          </p:cNvPr>
          <p:cNvPicPr>
            <a:picLocks noChangeAspect="1"/>
          </p:cNvPicPr>
          <p:nvPr/>
        </p:nvPicPr>
        <p:blipFill>
          <a:blip r:embed="rId2"/>
          <a:stretch>
            <a:fillRect/>
          </a:stretch>
        </p:blipFill>
        <p:spPr>
          <a:xfrm>
            <a:off x="723900" y="1175489"/>
            <a:ext cx="3540113" cy="1639719"/>
          </a:xfrm>
          <a:prstGeom prst="rect">
            <a:avLst/>
          </a:prstGeom>
        </p:spPr>
      </p:pic>
      <p:sp>
        <p:nvSpPr>
          <p:cNvPr id="25" name="Rectangle 24">
            <a:extLst>
              <a:ext uri="{FF2B5EF4-FFF2-40B4-BE49-F238E27FC236}">
                <a16:creationId xmlns:a16="http://schemas.microsoft.com/office/drawing/2014/main" id="{53059C5A-91CB-4024-9B4E-20082E25C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6441" y="643466"/>
            <a:ext cx="4032605" cy="2706794"/>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screenshot of a computer&#10;&#10;AI-generated content may be incorrect.">
            <a:extLst>
              <a:ext uri="{FF2B5EF4-FFF2-40B4-BE49-F238E27FC236}">
                <a16:creationId xmlns:a16="http://schemas.microsoft.com/office/drawing/2014/main" id="{709FA8FA-089B-1F43-8BEE-078E173A0386}"/>
              </a:ext>
            </a:extLst>
          </p:cNvPr>
          <p:cNvPicPr>
            <a:picLocks noChangeAspect="1"/>
          </p:cNvPicPr>
          <p:nvPr/>
        </p:nvPicPr>
        <p:blipFill>
          <a:blip r:embed="rId3"/>
          <a:stretch>
            <a:fillRect/>
          </a:stretch>
        </p:blipFill>
        <p:spPr>
          <a:xfrm>
            <a:off x="4867260" y="1213743"/>
            <a:ext cx="3550486" cy="1563211"/>
          </a:xfrm>
          <a:prstGeom prst="rect">
            <a:avLst/>
          </a:prstGeom>
        </p:spPr>
      </p:pic>
      <p:sp>
        <p:nvSpPr>
          <p:cNvPr id="27" name="Rectangle 26">
            <a:extLst>
              <a:ext uri="{FF2B5EF4-FFF2-40B4-BE49-F238E27FC236}">
                <a16:creationId xmlns:a16="http://schemas.microsoft.com/office/drawing/2014/main" id="{184884BF-A898-4EFF-9504-E13EBE3FF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599" y="3514513"/>
            <a:ext cx="4023191" cy="2703406"/>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screenshot of a computer&#10;&#10;AI-generated content may be incorrect.">
            <a:extLst>
              <a:ext uri="{FF2B5EF4-FFF2-40B4-BE49-F238E27FC236}">
                <a16:creationId xmlns:a16="http://schemas.microsoft.com/office/drawing/2014/main" id="{787B79B0-9E95-B724-4830-138E95419927}"/>
              </a:ext>
            </a:extLst>
          </p:cNvPr>
          <p:cNvPicPr>
            <a:picLocks noChangeAspect="1"/>
          </p:cNvPicPr>
          <p:nvPr/>
        </p:nvPicPr>
        <p:blipFill>
          <a:blip r:embed="rId4"/>
          <a:stretch>
            <a:fillRect/>
          </a:stretch>
        </p:blipFill>
        <p:spPr>
          <a:xfrm>
            <a:off x="723900" y="4156298"/>
            <a:ext cx="3550487" cy="1420195"/>
          </a:xfrm>
          <a:prstGeom prst="rect">
            <a:avLst/>
          </a:prstGeom>
        </p:spPr>
      </p:pic>
      <p:sp>
        <p:nvSpPr>
          <p:cNvPr id="29" name="Rectangle 28">
            <a:extLst>
              <a:ext uri="{FF2B5EF4-FFF2-40B4-BE49-F238E27FC236}">
                <a16:creationId xmlns:a16="http://schemas.microsoft.com/office/drawing/2014/main" id="{7B32D337-FDA6-4468-ADB1-7038E5FC0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6441" y="3514513"/>
            <a:ext cx="4032605" cy="2706794"/>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screenshot of a computer&#10;&#10;AI-generated content may be incorrect.">
            <a:extLst>
              <a:ext uri="{FF2B5EF4-FFF2-40B4-BE49-F238E27FC236}">
                <a16:creationId xmlns:a16="http://schemas.microsoft.com/office/drawing/2014/main" id="{D8A3B7E1-92A5-5505-C195-F77329907CF3}"/>
              </a:ext>
            </a:extLst>
          </p:cNvPr>
          <p:cNvPicPr>
            <a:picLocks noChangeAspect="1"/>
          </p:cNvPicPr>
          <p:nvPr/>
        </p:nvPicPr>
        <p:blipFill>
          <a:blip r:embed="rId5"/>
          <a:stretch>
            <a:fillRect/>
          </a:stretch>
        </p:blipFill>
        <p:spPr>
          <a:xfrm>
            <a:off x="4867260" y="4218575"/>
            <a:ext cx="3550486" cy="1295641"/>
          </a:xfrm>
          <a:prstGeom prst="rect">
            <a:avLst/>
          </a:prstGeom>
        </p:spPr>
      </p:pic>
    </p:spTree>
    <p:extLst>
      <p:ext uri="{BB962C8B-B14F-4D97-AF65-F5344CB8AC3E}">
        <p14:creationId xmlns:p14="http://schemas.microsoft.com/office/powerpoint/2010/main" val="398829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 y="-5"/>
            <a:ext cx="9144861"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1">
            <a:extLst>
              <a:ext uri="{FF2B5EF4-FFF2-40B4-BE49-F238E27FC236}">
                <a16:creationId xmlns:a16="http://schemas.microsoft.com/office/drawing/2014/main" id="{0D1A6086-7142-0D7C-84F1-A00F06775E89}"/>
              </a:ext>
            </a:extLst>
          </p:cNvPr>
          <p:cNvSpPr>
            <a:spLocks noGrp="1" noChangeArrowheads="1"/>
          </p:cNvSpPr>
          <p:nvPr>
            <p:ph idx="4294967295"/>
          </p:nvPr>
        </p:nvSpPr>
        <p:spPr bwMode="auto">
          <a:xfrm>
            <a:off x="822960" y="355600"/>
            <a:ext cx="7680960" cy="576132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defTabSz="914400" fontAlgn="base">
              <a:spcAft>
                <a:spcPct val="0"/>
              </a:spcAft>
              <a:buClrTx/>
              <a:buSzTx/>
              <a:tabLst/>
            </a:pPr>
            <a:endParaRPr kumimoji="0" lang="en-US" altLang="en-US" sz="900" b="1" i="0" u="none" strike="noStrike" cap="none" normalizeH="0" baseline="0" dirty="0">
              <a:ln>
                <a:noFill/>
              </a:ln>
              <a:solidFill>
                <a:schemeClr val="tx1">
                  <a:lumMod val="85000"/>
                  <a:lumOff val="15000"/>
                </a:schemeClr>
              </a:solidFill>
              <a:effectLst/>
            </a:endParaRPr>
          </a:p>
          <a:p>
            <a:pPr marL="0" marR="0" lvl="0" indent="0" defTabSz="914400" fontAlgn="base">
              <a:spcAft>
                <a:spcPct val="0"/>
              </a:spcAft>
              <a:buClrTx/>
              <a:buSzTx/>
              <a:buNone/>
              <a:tabLst/>
            </a:pPr>
            <a:r>
              <a:rPr kumimoji="0" lang="en-US" altLang="en-US" sz="2000" b="1" i="0" u="none" strike="noStrike" cap="none" normalizeH="0" baseline="0" dirty="0">
                <a:ln>
                  <a:noFill/>
                </a:ln>
                <a:solidFill>
                  <a:schemeClr val="tx1">
                    <a:lumMod val="85000"/>
                    <a:lumOff val="15000"/>
                  </a:schemeClr>
                </a:solidFill>
                <a:effectLst/>
              </a:rPr>
              <a:t>Description:</a:t>
            </a:r>
          </a:p>
          <a:p>
            <a:pPr marL="0" marR="0" lvl="0" indent="0" defTabSz="914400" fontAlgn="base">
              <a:spcAft>
                <a:spcPct val="0"/>
              </a:spcAft>
              <a:buClrTx/>
              <a:buSzTx/>
              <a:buNone/>
              <a:tabLst/>
            </a:pPr>
            <a:br>
              <a:rPr kumimoji="0" lang="en-US" altLang="en-US" sz="900" b="0" i="0" u="none" strike="noStrike" cap="none" normalizeH="0" baseline="0" dirty="0">
                <a:ln>
                  <a:noFill/>
                </a:ln>
                <a:solidFill>
                  <a:schemeClr val="tx1">
                    <a:lumMod val="85000"/>
                    <a:lumOff val="15000"/>
                  </a:schemeClr>
                </a:solidFill>
                <a:effectLst/>
              </a:rPr>
            </a:br>
            <a:r>
              <a:rPr lang="en-US" altLang="en-US" sz="1700" dirty="0"/>
              <a:t>For this part of the project, I worked on creating and populating four tables in MySQL Workbench: </a:t>
            </a:r>
            <a:r>
              <a:rPr lang="en-US" altLang="en-US" sz="1700" u="sng" dirty="0">
                <a:solidFill>
                  <a:schemeClr val="tx2">
                    <a:lumMod val="75000"/>
                    <a:lumOff val="25000"/>
                  </a:schemeClr>
                </a:solidFill>
              </a:rPr>
              <a:t>customers, orders, products, and payments</a:t>
            </a:r>
            <a:r>
              <a:rPr lang="en-US" altLang="en-US" sz="1700" dirty="0"/>
              <a:t>. These tables were designed to simulate real-world business scenarios with structured data.</a:t>
            </a:r>
          </a:p>
          <a:p>
            <a:pPr marL="0" marR="0" lvl="0" indent="0" defTabSz="914400" fontAlgn="base">
              <a:spcAft>
                <a:spcPct val="0"/>
              </a:spcAft>
              <a:buClrTx/>
              <a:buSzTx/>
              <a:buNone/>
              <a:tabLst/>
            </a:pPr>
            <a:r>
              <a:rPr lang="en-US" altLang="en-US" sz="1700" dirty="0"/>
              <a:t>The task included the following:</a:t>
            </a:r>
          </a:p>
          <a:p>
            <a:pPr marL="342900" marR="0" lvl="0" indent="-342900" defTabSz="914400" fontAlgn="base">
              <a:spcAft>
                <a:spcPct val="0"/>
              </a:spcAft>
              <a:buClrTx/>
              <a:buSzTx/>
              <a:buFont typeface="+mj-lt"/>
              <a:buAutoNum type="arabicPeriod"/>
              <a:tabLst/>
            </a:pPr>
            <a:r>
              <a:rPr lang="en-US" altLang="en-US" sz="1700" dirty="0"/>
              <a:t>Creating the tables using the provided schema and inserting the sample data.</a:t>
            </a:r>
          </a:p>
          <a:p>
            <a:pPr marL="342900" marR="0" lvl="0" indent="-342900" defTabSz="914400" fontAlgn="base">
              <a:spcAft>
                <a:spcPct val="0"/>
              </a:spcAft>
              <a:buClrTx/>
              <a:buSzTx/>
              <a:buFont typeface="+mj-lt"/>
              <a:buAutoNum type="arabicPeriod"/>
              <a:tabLst/>
            </a:pPr>
            <a:r>
              <a:rPr lang="en-US" altLang="en-US" sz="1700" dirty="0"/>
              <a:t>Using the </a:t>
            </a:r>
            <a:r>
              <a:rPr lang="en-US" altLang="en-US" sz="1700" b="1" dirty="0">
                <a:solidFill>
                  <a:schemeClr val="tx2">
                    <a:lumMod val="75000"/>
                    <a:lumOff val="25000"/>
                  </a:schemeClr>
                </a:solidFill>
              </a:rPr>
              <a:t>DESCRIBE </a:t>
            </a:r>
            <a:r>
              <a:rPr lang="en-US" altLang="en-US" sz="1700" dirty="0"/>
              <a:t>command to display the structure of each table.</a:t>
            </a:r>
          </a:p>
          <a:p>
            <a:pPr marL="342900" marR="0" lvl="0" indent="-342900" defTabSz="914400" fontAlgn="base">
              <a:spcAft>
                <a:spcPct val="0"/>
              </a:spcAft>
              <a:buClrTx/>
              <a:buSzTx/>
              <a:buFont typeface="+mj-lt"/>
              <a:buAutoNum type="arabicPeriod"/>
              <a:tabLst/>
            </a:pPr>
            <a:r>
              <a:rPr lang="en-US" altLang="en-US" sz="1700" dirty="0"/>
              <a:t>Executing specific queries to analyze relationships between tables and generate reports.</a:t>
            </a:r>
          </a:p>
          <a:p>
            <a:pPr marL="0" marR="0" lvl="0" indent="0" defTabSz="914400" fontAlgn="base">
              <a:spcAft>
                <a:spcPct val="0"/>
              </a:spcAft>
              <a:buClrTx/>
              <a:buSzTx/>
              <a:buNone/>
              <a:tabLst/>
            </a:pPr>
            <a:r>
              <a:rPr lang="en-US" altLang="en-US" sz="1700" dirty="0"/>
              <a:t>The queries addressed questions like:</a:t>
            </a:r>
          </a:p>
          <a:p>
            <a:pPr indent="-228600" defTabSz="914400" fontAlgn="base">
              <a:spcAft>
                <a:spcPct val="0"/>
              </a:spcAft>
            </a:pPr>
            <a:r>
              <a:rPr lang="en-US" altLang="en-US" sz="1700" dirty="0"/>
              <a:t>Listing customers with their orders.</a:t>
            </a:r>
          </a:p>
          <a:p>
            <a:pPr indent="-228600" defTabSz="914400" fontAlgn="base">
              <a:spcAft>
                <a:spcPct val="0"/>
              </a:spcAft>
            </a:pPr>
            <a:r>
              <a:rPr lang="en-US" altLang="en-US" sz="1700" dirty="0"/>
              <a:t>Displaying all customers, whether or not they have placed orders.</a:t>
            </a:r>
          </a:p>
          <a:p>
            <a:pPr indent="-228600" defTabSz="914400" fontAlgn="base">
              <a:spcAft>
                <a:spcPct val="0"/>
              </a:spcAft>
            </a:pPr>
            <a:r>
              <a:rPr lang="en-US" altLang="en-US" sz="1700" dirty="0"/>
              <a:t>Identifying ordered products and matching them to customers.</a:t>
            </a:r>
          </a:p>
          <a:p>
            <a:pPr indent="-228600" defTabSz="914400" fontAlgn="base">
              <a:spcAft>
                <a:spcPct val="0"/>
              </a:spcAft>
            </a:pPr>
            <a:r>
              <a:rPr lang="en-US" altLang="en-US" sz="1700" dirty="0"/>
              <a:t>Reporting unmatched records across tables.</a:t>
            </a:r>
          </a:p>
          <a:p>
            <a:pPr indent="-228600" defTabSz="914400" fontAlgn="base">
              <a:spcAft>
                <a:spcPct val="0"/>
              </a:spcAft>
            </a:pPr>
            <a:r>
              <a:rPr lang="en-US" altLang="en-US" sz="1700" dirty="0"/>
              <a:t>Categorizing products as "High-End" or "Standard" based on type.</a:t>
            </a:r>
          </a:p>
          <a:p>
            <a:pPr marL="0" marR="0" lvl="0" indent="-228600" defTabSz="914400" fontAlgn="base">
              <a:spcBef>
                <a:spcPct val="0"/>
              </a:spcBef>
              <a:spcAft>
                <a:spcPct val="0"/>
              </a:spcAft>
              <a:buClrTx/>
              <a:buSzTx/>
              <a:tabLst/>
            </a:pPr>
            <a:endParaRPr kumimoji="0" lang="en-US" altLang="en-US" sz="900" b="0" i="0" u="none" strike="noStrike" cap="none" normalizeH="0" baseline="0" dirty="0">
              <a:ln>
                <a:noFill/>
              </a:ln>
              <a:solidFill>
                <a:schemeClr val="tx1">
                  <a:lumMod val="85000"/>
                  <a:lumOff val="15000"/>
                </a:schemeClr>
              </a:solidFill>
              <a:effectLst/>
            </a:endParaRPr>
          </a:p>
        </p:txBody>
      </p:sp>
    </p:spTree>
    <p:extLst>
      <p:ext uri="{BB962C8B-B14F-4D97-AF65-F5344CB8AC3E}">
        <p14:creationId xmlns:p14="http://schemas.microsoft.com/office/powerpoint/2010/main" val="1595988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6825" y="1188637"/>
            <a:ext cx="2241175" cy="4480726"/>
          </a:xfrm>
        </p:spPr>
        <p:txBody>
          <a:bodyPr>
            <a:normAutofit/>
          </a:bodyPr>
          <a:lstStyle/>
          <a:p>
            <a:pPr algn="r"/>
            <a:r>
              <a:rPr lang="en-US" sz="3100" dirty="0"/>
              <a:t>Conclusion</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41445" y="1648870"/>
            <a:ext cx="3527136" cy="3560260"/>
          </a:xfrm>
        </p:spPr>
        <p:txBody>
          <a:bodyPr anchor="ctr">
            <a:normAutofit/>
          </a:bodyPr>
          <a:lstStyle/>
          <a:p>
            <a:endParaRPr dirty="0"/>
          </a:p>
          <a:p>
            <a:r>
              <a:rPr lang="en-US" dirty="0"/>
              <a:t>The project successfully implemented a database system with well-defined relationships and effective SQL queries, ensuring functional data organization and integrity suitable for the application requirements.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References</a:t>
            </a:r>
          </a:p>
        </p:txBody>
      </p:sp>
      <p:graphicFrame>
        <p:nvGraphicFramePr>
          <p:cNvPr id="88" name="Content Placeholder 2">
            <a:extLst>
              <a:ext uri="{FF2B5EF4-FFF2-40B4-BE49-F238E27FC236}">
                <a16:creationId xmlns:a16="http://schemas.microsoft.com/office/drawing/2014/main" id="{561F0979-E19E-F98D-FB2C-4F1229D5D8C9}"/>
              </a:ext>
            </a:extLst>
          </p:cNvPr>
          <p:cNvGraphicFramePr>
            <a:graphicFrameLocks noGrp="1"/>
          </p:cNvGraphicFramePr>
          <p:nvPr>
            <p:ph idx="1"/>
            <p:extLst>
              <p:ext uri="{D42A27DB-BD31-4B8C-83A1-F6EECF244321}">
                <p14:modId xmlns:p14="http://schemas.microsoft.com/office/powerpoint/2010/main" val="311188062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fa7a1fb-3f48-4fd9-bce0-6283cfafd648}" enabled="1" method="Standard" siteId="{fab6beb5-3604-42df-bddc-f4e9ddd654d5}" removed="0"/>
</clbl:labelList>
</file>

<file path=docProps/app.xml><?xml version="1.0" encoding="utf-8"?>
<Properties xmlns="http://schemas.openxmlformats.org/officeDocument/2006/extended-properties" xmlns:vt="http://schemas.openxmlformats.org/officeDocument/2006/docPropsVTypes">
  <Template>Facet</Template>
  <TotalTime>381</TotalTime>
  <Words>1033</Words>
  <Application>Microsoft Office PowerPoint</Application>
  <PresentationFormat>On-screen Show (4:3)</PresentationFormat>
  <Paragraphs>48</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Courier New</vt:lpstr>
      <vt:lpstr>Lato Extended</vt:lpstr>
      <vt:lpstr>Office Theme</vt:lpstr>
      <vt:lpstr>Alternative Project Part 5 - Database Project</vt:lpstr>
      <vt:lpstr>Introduction</vt:lpstr>
      <vt:lpstr>ERD Overview</vt:lpstr>
      <vt:lpstr>Access Database: Schema and Interface Enhancements</vt:lpstr>
      <vt:lpstr>PowerPoint Presentation</vt:lpstr>
      <vt:lpstr>MySQL Database Schema </vt:lpstr>
      <vt:lpstr>PowerPoint Presentation</vt:lpstr>
      <vt:lpstr>Database Implementation and Queries</vt:lpstr>
      <vt:lpstr>PowerPoint Presentation</vt:lpstr>
      <vt:lpstr>PowerPoint Presentation</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Cecilia Smith</cp:lastModifiedBy>
  <cp:revision>4</cp:revision>
  <dcterms:created xsi:type="dcterms:W3CDTF">2013-01-27T09:14:16Z</dcterms:created>
  <dcterms:modified xsi:type="dcterms:W3CDTF">2025-05-03T00:41:00Z</dcterms:modified>
  <cp:category/>
</cp:coreProperties>
</file>